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紙" id="{4dbfbb01-3d8e-18b5-48e8-3689d510b4ba}">
          <p14:sldIdLst>
            <p14:sldId id="256"/>
          </p14:sldIdLst>
        </p14:section>
        <p14:section name="アジェンダ" id="{024389de-1b07-4dcc-0024-eb4f44927118}">
          <p14:sldIdLst>
            <p14:sldId id="257"/>
          </p14:sldIdLst>
        </p14:section>
        <p14:section name="分析概要" id="{5ac9b467-b84d-730a-e652-c172e21b41b4}">
          <p14:sldIdLst>
            <p14:sldId id="258"/>
            <p14:sldId id="259"/>
            <p14:sldId id="260"/>
          </p14:sldIdLst>
        </p14:section>
        <p14:section name="事例ピックアップ" id="{5a0f09d5-30ea-bc98-30cc-09ae3612d863}">
          <p14:sldIdLst>
            <p14:sldId id="261"/>
            <p14:sldId id="262"/>
            <p14:sldId id="263"/>
            <p14:sldId id="264"/>
            <p14:sldId id="265"/>
            <p14:sldId id="266"/>
            <p14:sldId id="267"/>
          </p14:sldIdLst>
        </p14:section>
        <p14:section name="まとめ" id="{276c4c2e-eda9-3fc3-e90e-e75dbfd5cb88}">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B71C1C"/>
          </a:solidFill>
          <a:ln/>
        </p:spPr>
      </p:sp>
      <p:sp>
        <p:nvSpPr>
          <p:cNvPr id="3" name="Text 1"/>
          <p:cNvSpPr/>
          <p:nvPr/>
        </p:nvSpPr>
        <p:spPr>
          <a:xfrm>
            <a:off x="7863840" y="4800600"/>
            <a:ext cx="1097280" cy="274320"/>
          </a:xfrm>
          <a:prstGeom prst="rect">
            <a:avLst/>
          </a:prstGeom>
          <a:noFill/>
          <a:ln/>
        </p:spPr>
        <p:txBody>
          <a:bodyPr wrap="square" lIns="0" tIns="0" rIns="0" bIns="0" rtlCol="0" anchor="ctr"/>
          <a:lstStyle/>
          <a:p>
            <a:pPr algn="r" indent="0" marL="0">
              <a:buNone/>
            </a:pPr>
            <a:r>
              <a:rPr lang="en-US" sz="800" dirty="0">
                <a:solidFill>
                  <a:srgbClr val="9E9E9E"/>
                </a:solidFill>
              </a:rPr>
              <a:t>airCloset</a:t>
            </a:r>
            <a:endParaRPr lang="en-US" sz="800" dirty="0"/>
          </a:p>
        </p:txBody>
      </p:sp>
      <p:sp>
        <p:nvSpPr>
          <p:cNvPr id="4" name="Text 2"/>
          <p:cNvSpPr/>
          <p:nvPr>
            <p:ph idx="102" type="body" hasCustomPrompt="1"/>
          </p:nvPr>
        </p:nvSpPr>
        <p:spPr>
          <a:xfrm>
            <a:off x="457200" y="256032"/>
            <a:ext cx="7315200" cy="228600"/>
          </a:xfrm>
          <a:prstGeom prst="rect">
            <a:avLst/>
          </a:prstGeom>
          <a:noFill/>
          <a:ln/>
        </p:spPr>
        <p:txBody>
          <a:bodyPr wrap="square" rtlCol="0"/>
          <a:lstStyle>
            <a:lvl1pPr indent="0" marL="0">
              <a:buNone/>
              <a:defRPr lang="en-US" sz="800" b="1" spc="200" kern="0" dirty="0">
                <a:solidFill>
                  <a:srgbClr val="616161"/>
                </a:solidFill>
              </a:defRPr>
            </a:lvl1pPr>
          </a:lstStyle>
          <a:p>
            <a:pPr indent="0" marL="0">
              <a:buNone/>
            </a:pPr>
            <a:endParaRPr lang="en-US" sz="800" dirty="0"/>
          </a:p>
        </p:txBody>
      </p:sp>
      <p:sp>
        <p:nvSpPr>
          <p:cNvPr id="5" name="Text 2"/>
          <p:cNvSpPr/>
          <p:nvPr>
            <p:ph idx="103" type="title" hasCustomPrompt="1"/>
          </p:nvPr>
        </p:nvSpPr>
        <p:spPr>
          <a:xfrm>
            <a:off x="457200" y="457200"/>
            <a:ext cx="8229600" cy="457200"/>
          </a:xfrm>
          <a:prstGeom prst="rect">
            <a:avLst/>
          </a:prstGeom>
          <a:noFill/>
          <a:ln/>
        </p:spPr>
        <p:txBody>
          <a:bodyPr wrap="square" rtlCol="0"/>
          <a:lstStyle>
            <a:lvl1pPr algn="l" indent="0" marL="0">
              <a:buNone/>
              <a:defRPr lang="en-US" sz="1800" b="1" dirty="0">
                <a:solidFill>
                  <a:srgbClr val="B71C1C"/>
                </a:solidFill>
              </a:defRPr>
            </a:lvl1pPr>
          </a:lstStyle>
          <a:p>
            <a:pPr algn="l" indent="0" marL="0">
              <a:buNone/>
            </a:pPr>
            <a:endParaRPr lang="en-US" sz="1800" dirty="0"/>
          </a:p>
        </p:txBody>
      </p:sp>
      <p:sp>
        <p:nvSpPr>
          <p:cNvPr id="6" name="Text 2"/>
          <p:cNvSpPr/>
          <p:nvPr>
            <p:ph idx="104" type="body" hasCustomPrompt="1"/>
          </p:nvPr>
        </p:nvSpPr>
        <p:spPr>
          <a:xfrm>
            <a:off x="457200" y="1051560"/>
            <a:ext cx="8229600" cy="3566160"/>
          </a:xfrm>
          <a:prstGeom prst="rect">
            <a:avLst/>
          </a:prstGeom>
          <a:noFill/>
          <a:ln/>
        </p:spPr>
        <p:txBody>
          <a:bodyPr wrap="square" rtlCol="0"/>
          <a:lstStyle>
            <a:lvl1pPr indent="0" marL="0">
              <a:buNone/>
              <a:defRPr lang="en-US" sz="1100" dirty="0">
                <a:solidFill>
                  <a:srgbClr val="222222"/>
                </a:solidFill>
              </a:defRPr>
            </a:lvl1pPr>
          </a:lstStyle>
          <a:p>
            <a:pPr indent="0" marL="0">
              <a:buNone/>
            </a:pP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PLI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B71C1C"/>
          </a:solidFill>
          <a:ln/>
        </p:spPr>
      </p:sp>
      <p:sp>
        <p:nvSpPr>
          <p:cNvPr id="3" name="Text 1"/>
          <p:cNvSpPr/>
          <p:nvPr/>
        </p:nvSpPr>
        <p:spPr>
          <a:xfrm>
            <a:off x="7863840" y="4800600"/>
            <a:ext cx="1097280" cy="274320"/>
          </a:xfrm>
          <a:prstGeom prst="rect">
            <a:avLst/>
          </a:prstGeom>
          <a:noFill/>
          <a:ln/>
        </p:spPr>
        <p:txBody>
          <a:bodyPr wrap="square" lIns="0" tIns="0" rIns="0" bIns="0" rtlCol="0" anchor="ctr"/>
          <a:lstStyle/>
          <a:p>
            <a:pPr algn="r" indent="0" marL="0">
              <a:buNone/>
            </a:pPr>
            <a:r>
              <a:rPr lang="en-US" sz="800" dirty="0">
                <a:solidFill>
                  <a:srgbClr val="9E9E9E"/>
                </a:solidFill>
              </a:rPr>
              <a:t>airCloset</a:t>
            </a:r>
            <a:endParaRPr lang="en-US" sz="800" dirty="0"/>
          </a:p>
        </p:txBody>
      </p:sp>
      <p:sp>
        <p:nvSpPr>
          <p:cNvPr id="4" name="Text 2"/>
          <p:cNvSpPr/>
          <p:nvPr>
            <p:ph idx="102" type="body" hasCustomPrompt="1"/>
          </p:nvPr>
        </p:nvSpPr>
        <p:spPr>
          <a:xfrm>
            <a:off x="457200" y="256032"/>
            <a:ext cx="7315200" cy="228600"/>
          </a:xfrm>
          <a:prstGeom prst="rect">
            <a:avLst/>
          </a:prstGeom>
          <a:noFill/>
          <a:ln/>
        </p:spPr>
        <p:txBody>
          <a:bodyPr wrap="square" rtlCol="0"/>
          <a:lstStyle>
            <a:lvl1pPr indent="0" marL="0">
              <a:buNone/>
              <a:defRPr lang="en-US" sz="800" b="1" spc="200" kern="0" dirty="0">
                <a:solidFill>
                  <a:srgbClr val="616161"/>
                </a:solidFill>
              </a:defRPr>
            </a:lvl1pPr>
          </a:lstStyle>
          <a:p>
            <a:pPr indent="0" marL="0">
              <a:buNone/>
            </a:pPr>
            <a:endParaRPr lang="en-US" sz="800" dirty="0"/>
          </a:p>
        </p:txBody>
      </p:sp>
      <p:sp>
        <p:nvSpPr>
          <p:cNvPr id="5" name="Text 2"/>
          <p:cNvSpPr/>
          <p:nvPr>
            <p:ph idx="103" type="title" hasCustomPrompt="1"/>
          </p:nvPr>
        </p:nvSpPr>
        <p:spPr>
          <a:xfrm>
            <a:off x="457200" y="457200"/>
            <a:ext cx="8229600" cy="457200"/>
          </a:xfrm>
          <a:prstGeom prst="rect">
            <a:avLst/>
          </a:prstGeom>
          <a:noFill/>
          <a:ln/>
        </p:spPr>
        <p:txBody>
          <a:bodyPr wrap="square" rtlCol="0"/>
          <a:lstStyle>
            <a:lvl1pPr algn="l" indent="0" marL="0">
              <a:buNone/>
              <a:defRPr lang="en-US" sz="1800" b="1" dirty="0">
                <a:solidFill>
                  <a:srgbClr val="B71C1C"/>
                </a:solidFill>
              </a:defRPr>
            </a:lvl1pPr>
          </a:lstStyle>
          <a:p>
            <a:pPr algn="l" indent="0" marL="0">
              <a:buNone/>
            </a:pPr>
            <a:endParaRPr lang="en-US" sz="1800" dirty="0"/>
          </a:p>
        </p:txBody>
      </p:sp>
      <p:sp>
        <p:nvSpPr>
          <p:cNvPr id="6" name="Text 2"/>
          <p:cNvSpPr/>
          <p:nvPr>
            <p:ph idx="104" type="body" hasCustomPrompt="1"/>
          </p:nvPr>
        </p:nvSpPr>
        <p:spPr>
          <a:xfrm>
            <a:off x="457200" y="1051560"/>
            <a:ext cx="5120640" cy="3566160"/>
          </a:xfrm>
          <a:prstGeom prst="rect">
            <a:avLst/>
          </a:prstGeom>
          <a:noFill/>
          <a:ln/>
        </p:spPr>
        <p:txBody>
          <a:bodyPr wrap="square" rtlCol="0"/>
          <a:lstStyle>
            <a:lvl1pPr indent="0" marL="0">
              <a:buNone/>
              <a:defRPr lang="en-US" sz="1100" dirty="0">
                <a:solidFill>
                  <a:srgbClr val="222222"/>
                </a:solidFill>
              </a:defRPr>
            </a:lvl1pPr>
          </a:lstStyle>
          <a:p>
            <a:pPr indent="0" marL="0">
              <a:buNone/>
            </a:pPr>
            <a:endParaRPr lang="en-US" sz="11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PLIT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B71C1C"/>
          </a:solidFill>
          <a:ln/>
        </p:spPr>
      </p:sp>
      <p:sp>
        <p:nvSpPr>
          <p:cNvPr id="3" name="Text 1"/>
          <p:cNvSpPr/>
          <p:nvPr/>
        </p:nvSpPr>
        <p:spPr>
          <a:xfrm>
            <a:off x="7863840" y="4800600"/>
            <a:ext cx="1097280" cy="274320"/>
          </a:xfrm>
          <a:prstGeom prst="rect">
            <a:avLst/>
          </a:prstGeom>
          <a:noFill/>
          <a:ln/>
        </p:spPr>
        <p:txBody>
          <a:bodyPr wrap="square" lIns="0" tIns="0" rIns="0" bIns="0" rtlCol="0" anchor="ctr"/>
          <a:lstStyle/>
          <a:p>
            <a:pPr algn="r" indent="0" marL="0">
              <a:buNone/>
            </a:pPr>
            <a:r>
              <a:rPr lang="en-US" sz="800" dirty="0">
                <a:solidFill>
                  <a:srgbClr val="9E9E9E"/>
                </a:solidFill>
              </a:rPr>
              <a:t>airCloset</a:t>
            </a:r>
            <a:endParaRPr lang="en-US" sz="800" dirty="0"/>
          </a:p>
        </p:txBody>
      </p:sp>
      <p:sp>
        <p:nvSpPr>
          <p:cNvPr id="4" name="Text 2"/>
          <p:cNvSpPr/>
          <p:nvPr>
            <p:ph idx="102" type="body" hasCustomPrompt="1"/>
          </p:nvPr>
        </p:nvSpPr>
        <p:spPr>
          <a:xfrm>
            <a:off x="457200" y="256032"/>
            <a:ext cx="7315200" cy="228600"/>
          </a:xfrm>
          <a:prstGeom prst="rect">
            <a:avLst/>
          </a:prstGeom>
          <a:noFill/>
          <a:ln/>
        </p:spPr>
        <p:txBody>
          <a:bodyPr wrap="square" rtlCol="0"/>
          <a:lstStyle>
            <a:lvl1pPr indent="0" marL="0">
              <a:buNone/>
              <a:defRPr lang="en-US" sz="800" b="1" spc="200" kern="0" dirty="0">
                <a:solidFill>
                  <a:srgbClr val="616161"/>
                </a:solidFill>
              </a:defRPr>
            </a:lvl1pPr>
          </a:lstStyle>
          <a:p>
            <a:pPr indent="0" marL="0">
              <a:buNone/>
            </a:pPr>
            <a:endParaRPr lang="en-US" sz="800" dirty="0"/>
          </a:p>
        </p:txBody>
      </p:sp>
      <p:sp>
        <p:nvSpPr>
          <p:cNvPr id="5" name="Text 2"/>
          <p:cNvSpPr/>
          <p:nvPr>
            <p:ph idx="103" type="title" hasCustomPrompt="1"/>
          </p:nvPr>
        </p:nvSpPr>
        <p:spPr>
          <a:xfrm>
            <a:off x="457200" y="457200"/>
            <a:ext cx="8229600" cy="457200"/>
          </a:xfrm>
          <a:prstGeom prst="rect">
            <a:avLst/>
          </a:prstGeom>
          <a:noFill/>
          <a:ln/>
        </p:spPr>
        <p:txBody>
          <a:bodyPr wrap="square" rtlCol="0"/>
          <a:lstStyle>
            <a:lvl1pPr algn="l" indent="0" marL="0">
              <a:buNone/>
              <a:defRPr lang="en-US" sz="1800" b="1" dirty="0">
                <a:solidFill>
                  <a:srgbClr val="B71C1C"/>
                </a:solidFill>
              </a:defRPr>
            </a:lvl1pPr>
          </a:lstStyle>
          <a:p>
            <a:pPr algn="l" indent="0" marL="0">
              <a:buNone/>
            </a:pPr>
            <a:endParaRPr lang="en-US" sz="1800" dirty="0"/>
          </a:p>
        </p:txBody>
      </p:sp>
      <p:sp>
        <p:nvSpPr>
          <p:cNvPr id="6" name="Text 2"/>
          <p:cNvSpPr/>
          <p:nvPr>
            <p:ph idx="104" type="body" hasCustomPrompt="1"/>
          </p:nvPr>
        </p:nvSpPr>
        <p:spPr>
          <a:xfrm>
            <a:off x="457200" y="1051560"/>
            <a:ext cx="4206240" cy="3566160"/>
          </a:xfrm>
          <a:prstGeom prst="rect">
            <a:avLst/>
          </a:prstGeom>
          <a:noFill/>
          <a:ln/>
        </p:spPr>
        <p:txBody>
          <a:bodyPr wrap="square" rtlCol="0"/>
          <a:lstStyle>
            <a:lvl1pPr indent="0" marL="0">
              <a:buNone/>
              <a:defRPr lang="en-US" sz="1100" dirty="0">
                <a:solidFill>
                  <a:srgbClr val="222222"/>
                </a:solidFill>
              </a:defRPr>
            </a:lvl1pPr>
          </a:lstStyle>
          <a:p>
            <a:pPr indent="0" marL="0">
              <a:buNone/>
            </a:pPr>
            <a:endParaRPr lang="en-US" sz="11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bg>
      <p:bgPr>
        <a:solidFill>
          <a:srgbClr val="B71C1C"/>
        </a:solidFill>
      </p:bgPr>
    </p:bg>
    <p:spTree>
      <p:nvGrpSpPr>
        <p:cNvPr id="1" name=""/>
        <p:cNvGrpSpPr/>
        <p:nvPr/>
      </p:nvGrpSpPr>
      <p:grpSpPr>
        <a:xfrm>
          <a:off x="0" y="0"/>
          <a:ext cx="0" cy="0"/>
          <a:chOff x="0" y="0"/>
          <a:chExt cx="0" cy="0"/>
        </a:xfrm>
      </p:grpSpPr>
      <p:sp>
        <p:nvSpPr>
          <p:cNvPr id="2" name="Text 0"/>
          <p:cNvSpPr/>
          <p:nvPr/>
        </p:nvSpPr>
        <p:spPr>
          <a:xfrm>
            <a:off x="548640" y="1097280"/>
            <a:ext cx="7315200" cy="274320"/>
          </a:xfrm>
          <a:prstGeom prst="rect">
            <a:avLst/>
          </a:prstGeom>
          <a:noFill/>
          <a:ln/>
        </p:spPr>
        <p:txBody>
          <a:bodyPr wrap="square" lIns="0" tIns="0" rIns="0" bIns="0" rtlCol="0" anchor="ctr"/>
          <a:lstStyle/>
          <a:p>
            <a:pPr indent="0" marL="0">
              <a:buNone/>
            </a:pPr>
            <a:r>
              <a:rPr lang="en-US" sz="1100" dirty="0">
                <a:solidFill>
                  <a:srgbClr val="FFCDD2"/>
                </a:solidFill>
              </a:rPr>
              <a:t>airCloset ADO 内部監査</a:t>
            </a:r>
            <a:endParaRPr lang="en-US" sz="1100" dirty="0"/>
          </a:p>
        </p:txBody>
      </p:sp>
      <p:sp>
        <p:nvSpPr>
          <p:cNvPr id="3" name="Text 1"/>
          <p:cNvSpPr/>
          <p:nvPr>
            <p:ph idx="101" type="title" hasCustomPrompt="1"/>
          </p:nvPr>
        </p:nvSpPr>
        <p:spPr>
          <a:xfrm>
            <a:off x="548640" y="1554480"/>
            <a:ext cx="8046720" cy="1463040"/>
          </a:xfrm>
          <a:prstGeom prst="rect">
            <a:avLst/>
          </a:prstGeom>
          <a:noFill/>
          <a:ln/>
        </p:spPr>
        <p:txBody>
          <a:bodyPr wrap="square" rtlCol="0"/>
          <a:lstStyle>
            <a:lvl1pPr indent="0" marL="0">
              <a:buNone/>
              <a:defRPr lang="en-US" sz="2800" b="1" dirty="0">
                <a:solidFill>
                  <a:srgbClr val="FFFFFF"/>
                </a:solidFill>
              </a:defRPr>
            </a:lvl1pPr>
          </a:lstStyle>
          <a:p>
            <a:pPr indent="0" marL="0">
              <a:buNone/>
            </a:pPr>
            <a:endParaRPr lang="en-US" sz="2800" dirty="0"/>
          </a:p>
        </p:txBody>
      </p:sp>
      <p:sp>
        <p:nvSpPr>
          <p:cNvPr id="4" name="Text 1"/>
          <p:cNvSpPr/>
          <p:nvPr>
            <p:ph idx="102" type="body" hasCustomPrompt="1"/>
          </p:nvPr>
        </p:nvSpPr>
        <p:spPr>
          <a:xfrm>
            <a:off x="548640" y="3291840"/>
            <a:ext cx="8046720" cy="731520"/>
          </a:xfrm>
          <a:prstGeom prst="rect">
            <a:avLst/>
          </a:prstGeom>
          <a:noFill/>
          <a:ln/>
        </p:spPr>
        <p:txBody>
          <a:bodyPr wrap="square" rtlCol="0"/>
          <a:lstStyle>
            <a:lvl1pPr indent="0" marL="0">
              <a:buNone/>
              <a:defRPr lang="en-US" sz="1200" dirty="0">
                <a:solidFill>
                  <a:srgbClr val="FFCDD2"/>
                </a:solidFill>
              </a:defRPr>
            </a:lvl1pPr>
          </a:lstStyle>
          <a:p>
            <a:pPr indent="0" marL="0">
              <a:buNone/>
            </a:pPr>
            <a:endParaRPr lang="en-US" sz="12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2103120"/>
            <a:ext cx="9144000" cy="822960"/>
          </a:xfrm>
          <a:prstGeom prst="rect">
            <a:avLst/>
          </a:prstGeom>
          <a:solidFill>
            <a:srgbClr val="B71C1C"/>
          </a:solidFill>
          <a:ln/>
        </p:spPr>
      </p:sp>
      <p:sp>
        <p:nvSpPr>
          <p:cNvPr id="3" name="Text 1"/>
          <p:cNvSpPr/>
          <p:nvPr>
            <p:ph idx="101" type="title" hasCustomPrompt="1"/>
          </p:nvPr>
        </p:nvSpPr>
        <p:spPr>
          <a:xfrm>
            <a:off x="0" y="2103120"/>
            <a:ext cx="9144000" cy="822960"/>
          </a:xfrm>
          <a:prstGeom prst="rect">
            <a:avLst/>
          </a:prstGeom>
          <a:noFill/>
          <a:ln/>
        </p:spPr>
        <p:txBody>
          <a:bodyPr wrap="square" rtlCol="0"/>
          <a:lstStyle>
            <a:lvl1pPr algn="ctr" indent="0" marL="0">
              <a:buNone/>
              <a:defRPr lang="en-US" sz="2000" b="1" dirty="0">
                <a:solidFill>
                  <a:srgbClr val="FFFFFF"/>
                </a:solidFill>
              </a:defRPr>
            </a:lvl1pPr>
          </a:lstStyle>
          <a:p>
            <a:pPr algn="ctr" indent="0" marL="0">
              <a:buNone/>
            </a:pPr>
            <a:endParaRPr lang="en-US" sz="2000" dirty="0"/>
          </a:p>
        </p:txBody>
      </p:sp>
      <p:sp>
        <p:nvSpPr>
          <p:cNvPr id="4" name="Text 1"/>
          <p:cNvSpPr/>
          <p:nvPr>
            <p:ph idx="102" type="body" hasCustomPrompt="1"/>
          </p:nvPr>
        </p:nvSpPr>
        <p:spPr>
          <a:xfrm>
            <a:off x="914400" y="3108960"/>
            <a:ext cx="7315200" cy="457200"/>
          </a:xfrm>
          <a:prstGeom prst="rect">
            <a:avLst/>
          </a:prstGeom>
          <a:noFill/>
          <a:ln/>
        </p:spPr>
        <p:txBody>
          <a:bodyPr wrap="square" rtlCol="0"/>
          <a:lstStyle>
            <a:lvl1pPr algn="ctr" indent="0" marL="0">
              <a:buNone/>
              <a:defRPr lang="en-US" sz="1000" dirty="0">
                <a:solidFill>
                  <a:srgbClr val="616161"/>
                </a:solidFill>
              </a:defRPr>
            </a:lvl1pPr>
          </a:lstStyle>
          <a:p>
            <a:pPr algn="ctr" indent="0" marL="0">
              <a:buNone/>
            </a:pP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1554480"/>
            <a:ext cx="8046720" cy="1463040"/>
          </a:xfrm>
          <a:prstGeom prst="rect">
            <a:avLst/>
          </a:prstGeom>
          <a:noFill/>
          <a:ln/>
        </p:spPr>
        <p:txBody>
          <a:bodyPr wrap="square" lIns="0" tIns="0" rIns="0" bIns="0" rtlCol="0" anchor="t"/>
          <a:lstStyle/>
          <a:p>
            <a:pPr indent="0" marL="0">
              <a:buNone/>
            </a:pPr>
            <a:r>
              <a:rPr lang="en-US" sz="2800" b="1" dirty="0">
                <a:solidFill>
                  <a:srgbClr val="FFFFFF"/>
                </a:solidFill>
              </a:rPr>
              <a:t>内部監査：ADO レベル3インシデントの</a:t>
            </a:r>
            <a:endParaRPr lang="en-US" sz="2800" dirty="0"/>
          </a:p>
          <a:p>
            <a:pPr indent="0" marL="0">
              <a:buNone/>
            </a:pPr>
            <a:r>
              <a:rPr lang="en-US" sz="2800" b="1" dirty="0">
                <a:solidFill>
                  <a:srgbClr val="FFFFFF"/>
                </a:solidFill>
              </a:rPr>
              <a:t>恒久対応チェック（2024-2026年）</a:t>
            </a:r>
            <a:endParaRPr lang="en-US" sz="2800" dirty="0"/>
          </a:p>
        </p:txBody>
      </p:sp>
      <p:sp>
        <p:nvSpPr>
          <p:cNvPr id="3" name="Text 1"/>
          <p:cNvSpPr/>
          <p:nvPr>
            <p:ph idx="102" type="body" hasCustomPrompt="1"/>
          </p:nvPr>
        </p:nvSpPr>
        <p:spPr>
          <a:xfrm>
            <a:off x="548640" y="3291840"/>
            <a:ext cx="8046720" cy="731520"/>
          </a:xfrm>
          <a:prstGeom prst="rect">
            <a:avLst/>
          </a:prstGeom>
          <a:noFill/>
          <a:ln/>
        </p:spPr>
        <p:txBody>
          <a:bodyPr wrap="square" lIns="0" tIns="0" rIns="0" bIns="0" rtlCol="0" anchor="t"/>
          <a:lstStyle/>
          <a:p>
            <a:pPr indent="0" marL="0">
              <a:buNone/>
            </a:pPr>
            <a:r>
              <a:rPr lang="en-US" sz="1200" dirty="0">
                <a:solidFill>
                  <a:srgbClr val="FFCDD2"/>
                </a:solidFill>
              </a:rPr>
              <a:t>第13期 内部監査　監査対象：経営管理室（ADO）　2026年11月　監査実施者：森本（計画どおり）</a:t>
            </a:r>
            <a:endParaRPr lang="en-US" sz="1200" dirty="0"/>
          </a:p>
          <a:p>
            <a:pPr indent="0" marL="0">
              <a:buNone/>
            </a:pPr>
            <a:r>
              <a:rPr lang="en-US" sz="1200" dirty="0">
                <a:solidFill>
                  <a:srgbClr val="FFCDD2"/>
                </a:solidFill>
              </a:rPr>
              <a:t>出典：【ADO】インシデント管理シート（2026/10/13時点）＋【ADG】インシデント管理シート（2024/7まで）</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AGENDA</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本日のアジェンダ</a:t>
            </a:r>
            <a:endParaRPr lang="en-US" sz="1800" dirty="0"/>
          </a:p>
        </p:txBody>
      </p:sp>
      <p:sp>
        <p:nvSpPr>
          <p:cNvPr id="4"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222"/>
                </a:solidFill>
              </a:rPr>
              <a:t>分析概要①：年別×レベル別インシデント数</a:t>
            </a:r>
            <a:endParaRPr lang="en-US" sz="1100" dirty="0"/>
          </a:p>
          <a:p>
            <a:pPr marL="342900" indent="-342900">
              <a:spcAft>
                <a:spcPts val="400"/>
              </a:spcAft>
              <a:buSzPct val="100000"/>
              <a:buChar char="■"/>
            </a:pPr>
            <a:r>
              <a:rPr lang="en-US" sz="1100" dirty="0">
                <a:solidFill>
                  <a:srgbClr val="222222"/>
                </a:solidFill>
              </a:rPr>
              <a:t>分析概要②：レベル別×原因分類別・業務領域別の件数</a:t>
            </a:r>
            <a:endParaRPr lang="en-US" sz="1100" dirty="0"/>
          </a:p>
          <a:p>
            <a:pPr marL="342900" indent="-342900">
              <a:spcAft>
                <a:spcPts val="400"/>
              </a:spcAft>
              <a:buSzPct val="100000"/>
              <a:buChar char="■"/>
            </a:pPr>
            <a:r>
              <a:rPr lang="en-US" sz="1100" dirty="0">
                <a:solidFill>
                  <a:srgbClr val="222222"/>
                </a:solidFill>
              </a:rPr>
              <a:t>分析概要③：恒久対応の記録状況</a:t>
            </a:r>
            <a:endParaRPr lang="en-US" sz="1100" dirty="0"/>
          </a:p>
          <a:p>
            <a:pPr marL="342900" indent="-342900">
              <a:spcAft>
                <a:spcPts val="400"/>
              </a:spcAft>
              <a:buSzPct val="100000"/>
              <a:buChar char="■"/>
            </a:pPr>
            <a:r>
              <a:rPr lang="en-US" sz="1100" dirty="0">
                <a:solidFill>
                  <a:srgbClr val="222222"/>
                </a:solidFill>
              </a:rPr>
              <a:t>事例ピックアップ：影響範囲・対策案・「実施しているか」の確認（6事例・19件）</a:t>
            </a:r>
            <a:endParaRPr lang="en-US" sz="1100" dirty="0"/>
          </a:p>
          <a:p>
            <a:pPr marL="342900" indent="-342900">
              <a:spcAft>
                <a:spcPts val="400"/>
              </a:spcAft>
              <a:buSzPct val="100000"/>
              <a:buChar char="■"/>
            </a:pPr>
            <a:r>
              <a:rPr lang="en-US" sz="1100" dirty="0">
                <a:solidFill>
                  <a:srgbClr val="222222"/>
                </a:solidFill>
              </a:rPr>
              <a:t>監査での確認アプローチ／組織課題への提言／次のアクション</a:t>
            </a:r>
            <a:endParaRPr lang="en-US" sz="1100" dirty="0"/>
          </a:p>
          <a:p>
            <a:pPr lvl="1" marL="685800" indent="-342900">
              <a:spcAft>
                <a:spcPts val="200"/>
              </a:spcAft>
              <a:buSzPct val="100000"/>
              <a:buChar char="・"/>
            </a:pPr>
            <a:r>
              <a:rPr lang="en-US" sz="1000" dirty="0">
                <a:solidFill>
                  <a:srgbClr val="222222"/>
                </a:solidFill>
              </a:rPr>
              <a:t>※ GRG（8月）・SCMG（10月）と同じ構成。ADOは全社インシデント管理の事務局でもあるため、事務局機能の確認を加える</a:t>
            </a:r>
            <a:endParaRPr lang="en-US" sz="1100" dirty="0"/>
          </a:p>
          <a:p>
            <a:pPr lvl="1" marL="685800" indent="-342900">
              <a:spcAft>
                <a:spcPts val="200"/>
              </a:spcAft>
              <a:buSzPct val="100000"/>
              <a:buChar char="・"/>
            </a:pPr>
            <a:r>
              <a:rPr lang="en-US" sz="1000" dirty="0">
                <a:solidFill>
                  <a:srgbClr val="B71C1C"/>
                </a:solidFill>
              </a:rPr>
              <a:t>※ 経営管理室には内部監査担当（倉石）が所属するため、監査は森本が実施し、倉石が起票者の案件は森本がレビューする</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OVERVIEW</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分析概要①：年別×レベル別インシデント数</a:t>
            </a:r>
            <a:endParaRPr lang="en-US" sz="1800" dirty="0"/>
          </a:p>
        </p:txBody>
      </p:sp>
      <p:sp>
        <p:nvSpPr>
          <p:cNvPr id="4" name="Text 2"/>
          <p:cNvSpPr/>
          <p:nvPr>
            <p:ph idx="104" type="body" hasCustomPrompt="1"/>
          </p:nvPr>
        </p:nvSpPr>
        <p:spPr>
          <a:xfrm>
            <a:off x="457200" y="1051560"/>
            <a:ext cx="5120640" cy="3566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222"/>
                </a:solidFill>
              </a:rPr>
              <a:t>対象：2024〜2026年　発見件数35件（ADG 2件＋ADO 33件）</a:t>
            </a:r>
            <a:endParaRPr lang="en-US" sz="1100" dirty="0"/>
          </a:p>
          <a:p>
            <a:pPr lvl="1" marL="685800" indent="-342900">
              <a:spcAft>
                <a:spcPts val="200"/>
              </a:spcAft>
              <a:buSzPct val="100000"/>
              <a:buChar char="・"/>
            </a:pPr>
            <a:r>
              <a:rPr lang="en-US" sz="1000" dirty="0">
                <a:solidFill>
                  <a:srgbClr val="222222"/>
                </a:solidFill>
              </a:rPr>
              <a:t>レベル1　6件 / レベル2　5件 / レベル3　24件（69%）</a:t>
            </a:r>
            <a:endParaRPr lang="en-US" sz="1100" dirty="0"/>
          </a:p>
          <a:p>
            <a:pPr marL="342900" indent="-342900">
              <a:spcAft>
                <a:spcPts val="400"/>
              </a:spcAft>
              <a:buSzPct val="100000"/>
              <a:buChar char="■"/>
            </a:pPr>
            <a:r>
              <a:rPr lang="en-US" sz="1100" dirty="0">
                <a:solidFill>
                  <a:srgbClr val="222222"/>
                </a:solidFill>
              </a:rPr>
              <a:t>年別の推移</a:t>
            </a:r>
            <a:endParaRPr lang="en-US" sz="1100" dirty="0"/>
          </a:p>
          <a:p>
            <a:pPr lvl="1" marL="685800" indent="-342900">
              <a:spcAft>
                <a:spcPts val="200"/>
              </a:spcAft>
              <a:buSzPct val="100000"/>
              <a:buChar char="・"/>
            </a:pPr>
            <a:r>
              <a:rPr lang="en-US" sz="1000" dirty="0">
                <a:solidFill>
                  <a:srgbClr val="222222"/>
                </a:solidFill>
              </a:rPr>
              <a:t>2024年　6件（Lv2:1 / Lv3:5）</a:t>
            </a:r>
            <a:endParaRPr lang="en-US" sz="1100" dirty="0"/>
          </a:p>
          <a:p>
            <a:pPr lvl="1" marL="685800" indent="-342900">
              <a:spcAft>
                <a:spcPts val="200"/>
              </a:spcAft>
              <a:buSzPct val="100000"/>
              <a:buChar char="・"/>
            </a:pPr>
            <a:r>
              <a:rPr lang="en-US" sz="1000" dirty="0">
                <a:solidFill>
                  <a:srgbClr val="222222"/>
                </a:solidFill>
              </a:rPr>
              <a:t>2025年　11件（Lv1:1 / Lv2:2 / Lv3:8）</a:t>
            </a:r>
            <a:endParaRPr lang="en-US" sz="1100" dirty="0"/>
          </a:p>
          <a:p>
            <a:pPr lvl="1" marL="685800" indent="-342900">
              <a:spcAft>
                <a:spcPts val="200"/>
              </a:spcAft>
              <a:buSzPct val="100000"/>
              <a:buChar char="・"/>
            </a:pPr>
            <a:r>
              <a:rPr lang="en-US" sz="1000" dirty="0">
                <a:solidFill>
                  <a:srgbClr val="222222"/>
                </a:solidFill>
              </a:rPr>
              <a:t>2026年（〜10月13日）　18件（Lv1:5 / Lv2:2 / Lv3:11）</a:t>
            </a:r>
            <a:endParaRPr lang="en-US" sz="1100" dirty="0"/>
          </a:p>
          <a:p>
            <a:pPr lvl="2" marL="1028700" indent="-342900">
              <a:spcAft>
                <a:spcPts val="200"/>
              </a:spcAft>
              <a:buSzPct val="100000"/>
              <a:buChar char="→"/>
            </a:pPr>
            <a:r>
              <a:rPr lang="en-US" sz="1000" b="1" dirty="0">
                <a:solidFill>
                  <a:srgbClr val="222222"/>
                </a:solidFill>
              </a:rPr>
              <a:t>2026年は10月時点で前年の1.6倍。レベル3比率はGRG 41%・SCMG 59%より高い</a:t>
            </a:r>
            <a:endParaRPr lang="en-US" sz="1100" dirty="0"/>
          </a:p>
          <a:p>
            <a:pPr lvl="1" marL="685800" indent="-342900">
              <a:spcAft>
                <a:spcPts val="200"/>
              </a:spcAft>
              <a:buSzPct val="100000"/>
              <a:buChar char="・"/>
            </a:pPr>
            <a:r>
              <a:rPr lang="en-US" sz="1000" dirty="0">
                <a:solidFill>
                  <a:srgbClr val="222222"/>
                </a:solidFill>
              </a:rPr>
              <a:t>金額が判明している過重払い・支払漏れ7件の合計は約1,462万円（返金・相殺で解消済みとされるが、資金が一時的に社外へ出た額）</a:t>
            </a:r>
            <a:endParaRPr lang="en-US" sz="1100" dirty="0"/>
          </a:p>
          <a:p>
            <a:pPr lvl="1" marL="685800" indent="-342900">
              <a:spcAft>
                <a:spcPts val="200"/>
              </a:spcAft>
              <a:buSzPct val="100000"/>
              <a:buChar char="・"/>
            </a:pPr>
            <a:r>
              <a:rPr lang="en-US" sz="1000" dirty="0">
                <a:solidFill>
                  <a:srgbClr val="616161"/>
                </a:solidFill>
              </a:rPr>
              <a:t>ADOは起票が丁寧で、他部門なら起票されない少額ミスも記録されている点は割り引いて見る</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852160" y="1188720"/>
          <a:ext cx="2834640" cy="914400"/>
        </p:xfrm>
        <a:graphic>
          <a:graphicData uri="http://schemas.openxmlformats.org/drawingml/2006/table">
            <a:tbl>
              <a:tblPr/>
              <a:tblGrid>
                <a:gridCol w="822960"/>
                <a:gridCol w="502920"/>
                <a:gridCol w="502920"/>
                <a:gridCol w="502920"/>
                <a:gridCol w="502920"/>
              </a:tblGrid>
              <a:tr h="274320">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発見年</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レベル1</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レベル2</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レベル3</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合計</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2024年</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0</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5</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6</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2025年</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8</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11</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2026年</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5</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11</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18</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合計</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6</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5</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24</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35</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852160" y="2651760"/>
            <a:ext cx="2834640" cy="228600"/>
          </a:xfrm>
          <a:prstGeom prst="rect">
            <a:avLst/>
          </a:prstGeom>
          <a:noFill/>
          <a:ln/>
        </p:spPr>
        <p:txBody>
          <a:bodyPr wrap="square" lIns="0" tIns="0" rIns="0" bIns="0" rtlCol="0" anchor="ctr"/>
          <a:lstStyle/>
          <a:p>
            <a:pPr indent="0" marL="0">
              <a:buNone/>
            </a:pPr>
            <a:r>
              <a:rPr lang="en-US" sz="800" dirty="0">
                <a:solidFill>
                  <a:srgbClr val="616161"/>
                </a:solidFill>
              </a:rPr>
              <a:t>※ 2024年はADGシート2件＋ADOシート4件</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OVERVIEW</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分析概要②：レベル別×原因分類別・業務領域別の件数</a:t>
            </a:r>
            <a:endParaRPr lang="en-US" sz="1800" dirty="0"/>
          </a:p>
        </p:txBody>
      </p:sp>
      <p:sp>
        <p:nvSpPr>
          <p:cNvPr id="4" name="Text 2"/>
          <p:cNvSpPr/>
          <p:nvPr>
            <p:ph idx="104" type="body" hasCustomPrompt="1"/>
          </p:nvPr>
        </p:nvSpPr>
        <p:spPr>
          <a:xfrm>
            <a:off x="457200" y="1051560"/>
            <a:ext cx="5120640" cy="3566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222"/>
                </a:solidFill>
              </a:rPr>
              <a:t>レベル3（24件）の原因内訳</a:t>
            </a:r>
            <a:endParaRPr lang="en-US" sz="1100" dirty="0"/>
          </a:p>
          <a:p>
            <a:pPr lvl="1" marL="685800" indent="-342900">
              <a:spcAft>
                <a:spcPts val="200"/>
              </a:spcAft>
              <a:buSzPct val="100000"/>
              <a:buChar char="・"/>
            </a:pPr>
            <a:r>
              <a:rPr lang="en-US" sz="1000" dirty="0">
                <a:solidFill>
                  <a:srgbClr val="222222"/>
                </a:solidFill>
              </a:rPr>
              <a:t>業務起因_作業起因　15件 / 業務起因_ルール不足　8件 / 空欄　1件</a:t>
            </a:r>
            <a:endParaRPr lang="en-US" sz="1100" dirty="0"/>
          </a:p>
          <a:p>
            <a:pPr lvl="2" marL="1028700" indent="-342900">
              <a:spcAft>
                <a:spcPts val="200"/>
              </a:spcAft>
              <a:buSzPct val="100000"/>
              <a:buChar char="→"/>
            </a:pPr>
            <a:r>
              <a:rPr lang="en-US" sz="1000" b="1" dirty="0">
                <a:solidFill>
                  <a:srgbClr val="222222"/>
                </a:solidFill>
              </a:rPr>
              <a:t>35件すべてが業務起因（システム起因ゼロ）。管理部門の仕事は「人の手順」そのもの</a:t>
            </a:r>
            <a:endParaRPr lang="en-US" sz="1100" dirty="0"/>
          </a:p>
          <a:p>
            <a:pPr marL="342900" indent="-342900">
              <a:spcAft>
                <a:spcPts val="400"/>
              </a:spcAft>
              <a:buSzPct val="100000"/>
              <a:buChar char="■"/>
            </a:pPr>
            <a:r>
              <a:rPr lang="en-US" sz="1100" dirty="0">
                <a:solidFill>
                  <a:srgbClr val="222222"/>
                </a:solidFill>
              </a:rPr>
              <a:t>業務領域で見ると支払い系が13件（37%）と突出</a:t>
            </a:r>
            <a:endParaRPr lang="en-US" sz="1100" dirty="0"/>
          </a:p>
          <a:p>
            <a:pPr lvl="1" marL="685800" indent="-342900">
              <a:spcAft>
                <a:spcPts val="200"/>
              </a:spcAft>
              <a:buSzPct val="100000"/>
              <a:buChar char="・"/>
            </a:pPr>
            <a:r>
              <a:rPr lang="en-US" sz="1000" dirty="0">
                <a:solidFill>
                  <a:srgbClr val="222222"/>
                </a:solidFill>
              </a:rPr>
              <a:t>次いで給与・労務計算6件、入退社手続き4件、開示・税務3件、個人情報・情報発信3件</a:t>
            </a:r>
            <a:endParaRPr lang="en-US" sz="1100" dirty="0"/>
          </a:p>
          <a:p>
            <a:pPr lvl="1" marL="685800" indent="-342900">
              <a:spcAft>
                <a:spcPts val="200"/>
              </a:spcAft>
              <a:buSzPct val="100000"/>
              <a:buChar char="・"/>
            </a:pPr>
            <a:r>
              <a:rPr lang="en-US" sz="1000" dirty="0">
                <a:solidFill>
                  <a:srgbClr val="222222"/>
                </a:solidFill>
              </a:rPr>
              <a:t>支払い系13件のうち2026年が6件。対策が「Wチェック→トリプルチェック→AIチェック」と積み上がる中で再発</a:t>
            </a:r>
            <a:endParaRPr lang="en-US" sz="1100" dirty="0"/>
          </a:p>
          <a:p>
            <a:pPr lvl="1" marL="685800" indent="-342900">
              <a:spcAft>
                <a:spcPts val="200"/>
              </a:spcAft>
              <a:buSzPct val="100000"/>
              <a:buChar char="・"/>
            </a:pPr>
            <a:r>
              <a:rPr lang="en-US" sz="1000" dirty="0">
                <a:solidFill>
                  <a:srgbClr val="616161"/>
                </a:solidFill>
              </a:rPr>
              <a:t>※ 2023年9月以前（ADG）は原因分類が「有／無」で記録されており現行分類とは比較できない</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852160" y="1188720"/>
          <a:ext cx="2834640" cy="914400"/>
        </p:xfrm>
        <a:graphic>
          <a:graphicData uri="http://schemas.openxmlformats.org/drawingml/2006/table">
            <a:tbl>
              <a:tblPr/>
              <a:tblGrid>
                <a:gridCol w="2103120"/>
                <a:gridCol w="731520"/>
              </a:tblGrid>
              <a:tr h="256032">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レベル3の原因分類</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件数</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業務起因_作業起因</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15</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業務起因_ルール不足</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8</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（空欄）</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5852160" y="2514600"/>
          <a:ext cx="2834640" cy="914400"/>
        </p:xfrm>
        <a:graphic>
          <a:graphicData uri="http://schemas.openxmlformats.org/drawingml/2006/table">
            <a:tbl>
              <a:tblPr/>
              <a:tblGrid>
                <a:gridCol w="2103120"/>
                <a:gridCol w="731520"/>
              </a:tblGrid>
              <a:tr h="219456">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業務領域（35件）</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件数</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r>
              <a:tr h="219456">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支払い（漏れ・過重・誤送金）</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13</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19456">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給与・交通費計算</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6</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19456">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入退社・労務手続き</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4</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19456">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開示・税務</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3</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19456">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個人情報・情報発信</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3</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19456">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契約更新・稟議</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19456">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資金繰り・銀行</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19456">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その他（施錠・会議室）</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OVERVIEW</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分析概要③：恒久対応の記録状況</a:t>
            </a:r>
            <a:endParaRPr lang="en-US" sz="1800" dirty="0"/>
          </a:p>
        </p:txBody>
      </p:sp>
      <p:sp>
        <p:nvSpPr>
          <p:cNvPr id="4" name="Text 2"/>
          <p:cNvSpPr/>
          <p:nvPr>
            <p:ph idx="104" type="body" hasCustomPrompt="1"/>
          </p:nvPr>
        </p:nvSpPr>
        <p:spPr>
          <a:xfrm>
            <a:off x="457200" y="1051560"/>
            <a:ext cx="5120640" cy="3566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222"/>
                </a:solidFill>
              </a:rPr>
              <a:t>全体（35件）の記録状況</a:t>
            </a:r>
            <a:endParaRPr lang="en-US" sz="1100" dirty="0"/>
          </a:p>
          <a:p>
            <a:pPr lvl="1" marL="685800" indent="-342900">
              <a:spcAft>
                <a:spcPts val="200"/>
              </a:spcAft>
              <a:buSzPct val="100000"/>
              <a:buChar char="・"/>
            </a:pPr>
            <a:r>
              <a:rPr lang="en-US" sz="1000" dirty="0">
                <a:solidFill>
                  <a:srgbClr val="222222"/>
                </a:solidFill>
              </a:rPr>
              <a:t>恒久対応策の記入率　88.6%（31件）</a:t>
            </a:r>
            <a:endParaRPr lang="en-US" sz="1100" dirty="0"/>
          </a:p>
          <a:p>
            <a:pPr lvl="1" marL="685800" indent="-342900">
              <a:spcAft>
                <a:spcPts val="200"/>
              </a:spcAft>
              <a:buSzPct val="100000"/>
              <a:buChar char="・"/>
            </a:pPr>
            <a:r>
              <a:rPr lang="en-US" sz="1000" dirty="0">
                <a:solidFill>
                  <a:srgbClr val="222222"/>
                </a:solidFill>
              </a:rPr>
              <a:t>恒久対応承認日の記入率　68.6%（24件）</a:t>
            </a:r>
            <a:endParaRPr lang="en-US" sz="1100" dirty="0"/>
          </a:p>
          <a:p>
            <a:pPr lvl="1" marL="685800" indent="-342900">
              <a:spcAft>
                <a:spcPts val="200"/>
              </a:spcAft>
              <a:buSzPct val="100000"/>
              <a:buChar char="・"/>
            </a:pPr>
            <a:r>
              <a:rPr lang="en-US" sz="1000" dirty="0">
                <a:solidFill>
                  <a:srgbClr val="222222"/>
                </a:solidFill>
              </a:rPr>
              <a:t>完了予定日の設定率　62.9%（22件）</a:t>
            </a:r>
            <a:endParaRPr lang="en-US" sz="1100" dirty="0"/>
          </a:p>
          <a:p>
            <a:pPr lvl="1" marL="685800" indent="-342900">
              <a:spcAft>
                <a:spcPts val="200"/>
              </a:spcAft>
              <a:buSzPct val="100000"/>
              <a:buChar char="・"/>
            </a:pPr>
            <a:r>
              <a:rPr lang="en-US" sz="1000" dirty="0">
                <a:solidFill>
                  <a:srgbClr val="222222"/>
                </a:solidFill>
              </a:rPr>
              <a:t>対応完了日の記入率　37.1%（13件）</a:t>
            </a:r>
            <a:endParaRPr lang="en-US" sz="1100" dirty="0"/>
          </a:p>
          <a:p>
            <a:pPr lvl="1" marL="685800" indent="-342900">
              <a:spcAft>
                <a:spcPts val="200"/>
              </a:spcAft>
              <a:buSzPct val="100000"/>
              <a:buChar char="・"/>
            </a:pPr>
            <a:r>
              <a:rPr lang="en-US" sz="1000" dirty="0">
                <a:solidFill>
                  <a:srgbClr val="222222"/>
                </a:solidFill>
              </a:rPr>
              <a:t>有効性の記入率　31.4%（11件）</a:t>
            </a:r>
            <a:endParaRPr lang="en-US" sz="1100" dirty="0"/>
          </a:p>
          <a:p>
            <a:pPr lvl="2" marL="1028700" indent="-342900">
              <a:spcAft>
                <a:spcPts val="200"/>
              </a:spcAft>
              <a:buSzPct val="100000"/>
              <a:buChar char="→"/>
            </a:pPr>
            <a:r>
              <a:rPr lang="en-US" sz="1000" b="1" dirty="0">
                <a:solidFill>
                  <a:srgbClr val="222222"/>
                </a:solidFill>
              </a:rPr>
              <a:t>記録はGRG・SCMGより良い（事務局部門として当然）。ただし有効性欄は「効くはず」という決定時の見込みで、事後の検証記録ではない</a:t>
            </a:r>
            <a:endParaRPr lang="en-US" sz="1100" dirty="0"/>
          </a:p>
          <a:p>
            <a:pPr lvl="1" marL="685800" indent="-342900">
              <a:spcAft>
                <a:spcPts val="200"/>
              </a:spcAft>
              <a:buSzPct val="100000"/>
              <a:buChar char="・"/>
            </a:pPr>
            <a:r>
              <a:rPr lang="en-US" sz="1000" dirty="0">
                <a:solidFill>
                  <a:srgbClr val="222222"/>
                </a:solidFill>
              </a:rPr>
              <a:t>レベル3・24件で役員会確認は0件。規程上の「グループ長→社長」承認の形跡が台帳にない</a:t>
            </a:r>
            <a:endParaRPr lang="en-US" sz="1100" dirty="0"/>
          </a:p>
          <a:p>
            <a:pPr lvl="1" marL="685800" indent="-342900">
              <a:spcAft>
                <a:spcPts val="200"/>
              </a:spcAft>
              <a:buSzPct val="100000"/>
              <a:buChar char="・"/>
            </a:pPr>
            <a:r>
              <a:rPr lang="en-US" sz="1000" dirty="0">
                <a:solidFill>
                  <a:srgbClr val="222222"/>
                </a:solidFill>
              </a:rPr>
              <a:t>レベル3のステータス：完了9 / 期限超過7 / 承認日なし5 / 対応中2 / 対策未記載1</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852160" y="1188720"/>
          <a:ext cx="2834640" cy="914400"/>
        </p:xfrm>
        <a:graphic>
          <a:graphicData uri="http://schemas.openxmlformats.org/drawingml/2006/table">
            <a:tbl>
              <a:tblPr/>
              <a:tblGrid>
                <a:gridCol w="1554480"/>
                <a:gridCol w="1280160"/>
              </a:tblGrid>
              <a:tr h="256032">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指標</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レベル3のみ（24件）</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恒久対応策の記入率</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95.8%（23件）</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承認日の記入率</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75.0%（18件）</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完了予定日の設定率</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70.8%（17件）</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対応完了日の記入率</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37.5%（9件）</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56032">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有効性の記入率</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33.3%（8件）</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bl>
          </a:graphicData>
        </a:graphic>
      </p:graphicFrame>
      <p:sp>
        <p:nvSpPr>
          <p:cNvPr id="6" name="Shape 3"/>
          <p:cNvSpPr/>
          <p:nvPr/>
        </p:nvSpPr>
        <p:spPr>
          <a:xfrm>
            <a:off x="5852160" y="2971800"/>
            <a:ext cx="2834640" cy="1188720"/>
          </a:xfrm>
          <a:prstGeom prst="rect">
            <a:avLst/>
          </a:prstGeom>
          <a:solidFill>
            <a:srgbClr val="FDECEA"/>
          </a:solidFill>
          <a:ln w="12700">
            <a:solidFill>
              <a:srgbClr val="FDECEA"/>
            </a:solidFill>
            <a:prstDash val="solid"/>
          </a:ln>
        </p:spPr>
      </p:sp>
      <p:sp>
        <p:nvSpPr>
          <p:cNvPr id="7" name="Text 4"/>
          <p:cNvSpPr txBox="1"/>
          <p:nvPr/>
        </p:nvSpPr>
        <p:spPr>
          <a:xfrm>
            <a:off x="5943600" y="3017520"/>
            <a:ext cx="2651760" cy="1097280"/>
          </a:xfrm>
          <a:prstGeom prst="rect">
            <a:avLst/>
          </a:prstGeom>
          <a:noFill/>
          <a:ln/>
        </p:spPr>
        <p:txBody>
          <a:bodyPr wrap="square" lIns="0" tIns="0" rIns="0" bIns="0" rtlCol="0" anchor="t"/>
          <a:lstStyle/>
          <a:p>
            <a:pPr indent="0" marL="0">
              <a:buNone/>
            </a:pPr>
            <a:r>
              <a:rPr lang="en-US" sz="950" b="1" dirty="0">
                <a:solidFill>
                  <a:srgbClr val="B71C1C"/>
                </a:solidFill>
              </a:rPr>
              <a:t>全社の台帳を管理する事務局でありながら、自部門のレベル3の6割が未クローズ。「有効性」を事後に判定する運用が全社に無いことの縮図。</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OVERVIEW</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事例ピックアップ対象：レベル3・24件 → 業務領域で6事例に集約</a:t>
            </a:r>
            <a:endParaRPr lang="en-US" sz="1800" dirty="0"/>
          </a:p>
        </p:txBody>
      </p:sp>
      <p:sp>
        <p:nvSpPr>
          <p:cNvPr id="4" name="Text 2"/>
          <p:cNvSpPr/>
          <p:nvPr>
            <p:ph idx="104" type="body" hasCustomPrompt="1"/>
          </p:nvPr>
        </p:nvSpPr>
        <p:spPr>
          <a:xfrm>
            <a:off x="457200" y="1051560"/>
            <a:ext cx="4206240" cy="3566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222"/>
                </a:solidFill>
              </a:rPr>
              <a:t>抽出条件</a:t>
            </a:r>
            <a:endParaRPr lang="en-US" sz="1100" dirty="0"/>
          </a:p>
          <a:p>
            <a:pPr lvl="1" marL="685800" indent="-342900">
              <a:spcAft>
                <a:spcPts val="200"/>
              </a:spcAft>
              <a:buSzPct val="100000"/>
              <a:buChar char="・"/>
            </a:pPr>
            <a:r>
              <a:rPr lang="en-US" sz="1000" dirty="0">
                <a:solidFill>
                  <a:srgbClr val="222222"/>
                </a:solidFill>
              </a:rPr>
              <a:t>発見日：2024〜2026年</a:t>
            </a:r>
            <a:endParaRPr lang="en-US" sz="1100" dirty="0"/>
          </a:p>
          <a:p>
            <a:pPr lvl="1" marL="685800" indent="-342900">
              <a:spcAft>
                <a:spcPts val="200"/>
              </a:spcAft>
              <a:buSzPct val="100000"/>
              <a:buChar char="・"/>
            </a:pPr>
            <a:r>
              <a:rPr lang="en-US" sz="1000" dirty="0">
                <a:solidFill>
                  <a:srgbClr val="222222"/>
                </a:solidFill>
              </a:rPr>
              <a:t>レベル：3（24件。業務起因23件＋分類空欄1件）</a:t>
            </a:r>
            <a:endParaRPr lang="en-US" sz="1100" dirty="0"/>
          </a:p>
          <a:p>
            <a:pPr marL="342900" indent="-342900">
              <a:spcAft>
                <a:spcPts val="400"/>
              </a:spcAft>
              <a:buSzPct val="100000"/>
              <a:buChar char="■"/>
            </a:pPr>
            <a:r>
              <a:rPr lang="en-US" sz="1100" dirty="0">
                <a:solidFill>
                  <a:srgbClr val="222222"/>
                </a:solidFill>
              </a:rPr>
              <a:t>該当：24件 → 同型を束ねて6事例（19件。Lv2・Lv1の関連案件を含む）</a:t>
            </a:r>
            <a:endParaRPr lang="en-US" sz="1100" dirty="0"/>
          </a:p>
          <a:p>
            <a:pPr lvl="1" marL="685800" indent="-342900">
              <a:spcAft>
                <a:spcPts val="200"/>
              </a:spcAft>
              <a:buSzPct val="100000"/>
              <a:buChar char="・"/>
            </a:pPr>
            <a:r>
              <a:rPr lang="en-US" sz="1000" dirty="0">
                <a:solidFill>
                  <a:srgbClr val="222222"/>
                </a:solidFill>
              </a:rPr>
              <a:t>残りのレベル3（ADG-18、#1,2,4,5,8,13,15,18）は台帳の記録状況を一覧で提示し、承認日・完了日の是正を依頼</a:t>
            </a:r>
            <a:endParaRPr lang="en-US" sz="1100" dirty="0"/>
          </a:p>
          <a:p>
            <a:pPr marL="342900" indent="-342900">
              <a:spcAft>
                <a:spcPts val="400"/>
              </a:spcAft>
              <a:buSzPct val="100000"/>
              <a:buChar char="■"/>
            </a:pPr>
            <a:r>
              <a:rPr lang="en-US" sz="1100" dirty="0">
                <a:solidFill>
                  <a:srgbClr val="222222"/>
                </a:solidFill>
              </a:rPr>
              <a:t>選定の観点</a:t>
            </a:r>
            <a:endParaRPr lang="en-US" sz="1100" dirty="0"/>
          </a:p>
          <a:p>
            <a:pPr lvl="1" marL="685800" indent="-342900">
              <a:spcAft>
                <a:spcPts val="200"/>
              </a:spcAft>
              <a:buSzPct val="100000"/>
              <a:buChar char="・"/>
            </a:pPr>
            <a:r>
              <a:rPr lang="en-US" sz="1000" dirty="0">
                <a:solidFill>
                  <a:srgbClr val="222222"/>
                </a:solidFill>
              </a:rPr>
              <a:t>金額影響が大きく再発している（支払い）</a:t>
            </a:r>
            <a:endParaRPr lang="en-US" sz="1100" dirty="0"/>
          </a:p>
          <a:p>
            <a:pPr lvl="1" marL="685800" indent="-342900">
              <a:spcAft>
                <a:spcPts val="200"/>
              </a:spcAft>
              <a:buSzPct val="100000"/>
              <a:buChar char="・"/>
            </a:pPr>
            <a:r>
              <a:rPr lang="en-US" sz="1000" dirty="0">
                <a:solidFill>
                  <a:srgbClr val="222222"/>
                </a:solidFill>
              </a:rPr>
              <a:t>上場会社として重い（銀行遵守事項・適時開示・税務）</a:t>
            </a:r>
            <a:endParaRPr lang="en-US" sz="1100" dirty="0"/>
          </a:p>
          <a:p>
            <a:pPr lvl="1" marL="685800" indent="-342900">
              <a:spcAft>
                <a:spcPts val="200"/>
              </a:spcAft>
              <a:buSzPct val="100000"/>
              <a:buChar char="・"/>
            </a:pPr>
            <a:r>
              <a:rPr lang="en-US" sz="1000" dirty="0">
                <a:solidFill>
                  <a:srgbClr val="222222"/>
                </a:solidFill>
              </a:rPr>
              <a:t>ADOが全社に求めるルールを自部門で破っている（事後稟議・契約更新）</a:t>
            </a:r>
            <a:endParaRPr lang="en-US" sz="1100" dirty="0"/>
          </a:p>
          <a:p>
            <a:pPr lvl="1" marL="685800" indent="-342900">
              <a:spcAft>
                <a:spcPts val="200"/>
              </a:spcAft>
              <a:buSzPct val="100000"/>
              <a:buChar char="・"/>
            </a:pPr>
            <a:r>
              <a:rPr lang="en-US" sz="1000" dirty="0">
                <a:solidFill>
                  <a:srgbClr val="222222"/>
                </a:solidFill>
              </a:rPr>
              <a:t>対策がチェックリスト・関数など構造的な形になっており、実装確認しやすい（入退社・給与）</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846320" y="1097280"/>
          <a:ext cx="3840480" cy="914400"/>
        </p:xfrm>
        <a:graphic>
          <a:graphicData uri="http://schemas.openxmlformats.org/drawingml/2006/table">
            <a:tbl>
              <a:tblPr/>
              <a:tblGrid>
                <a:gridCol w="457200"/>
                <a:gridCol w="914400"/>
                <a:gridCol w="2468880"/>
              </a:tblGrid>
              <a:tr h="237744">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事例</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発見日</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課題タイトル（抜粋）</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71C1C"/>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①</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2026/4/1</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日本郵便への支払漏れ（224万円）</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①</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2026/5/27</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ヤーマンへの過重払い（153万円）</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①</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2026/6/16</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クラスメソッドへの過重払い（96万円）</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①</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2026/10/1</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オンワードへの過重払い（297万円）</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②</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2024/5/24</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給与支払遅延未遂（2023年の再発）</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②</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2026/6/18</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銀行との遵守事項違反</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③</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2025/10/27</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スタイリスト8名の契約更新漏れ</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③</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2026/7/24</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ジョブカン承認前に契約締結</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④</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2025/3〜2026/9</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給与計算ミス4件（#7,20,22,29）</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⑤</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2025/8/13</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借入れの適時開示漏れ</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⑤</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2025/9〜2026/7</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源泉所得税・消費税区分（#12,24）</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FAFA"/>
                    </a:solidFill>
                  </a:tcPr>
                </a:tc>
              </a:tr>
              <a:tr h="237744">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⑥</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2025/8〜2026/10</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22222"/>
                          </a:solidFill>
                          <a:latin typeface="Meiryo" pitchFamily="34" charset="0"/>
                          <a:ea typeface="Meiryo" pitchFamily="34" charset="-122"/>
                          <a:cs typeface="Meiryo" pitchFamily="34" charset="-120"/>
                        </a:rPr>
                        <a:t>入退社・労務手続き4件（#11,26,28,32）</a:t>
                      </a:r>
                      <a:endParaRPr lang="en-US" sz="900" dirty="0">
                        <a:latin typeface="Meiryo" charset="0"/>
                        <a:ea typeface="Meiryo" charset="0"/>
                        <a:cs typeface="Meiryo"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CASE STUDY（レベル3）</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事例①：支払漏れ・過重払いが2026年に相次ぐ（4件・約770万円）</a:t>
            </a:r>
            <a:endParaRPr lang="en-US" sz="1800" dirty="0"/>
          </a:p>
        </p:txBody>
      </p:sp>
      <p:sp>
        <p:nvSpPr>
          <p:cNvPr id="4" name="Text 2"/>
          <p:cNvSpPr txBox="1"/>
          <p:nvPr/>
        </p:nvSpPr>
        <p:spPr>
          <a:xfrm>
            <a:off x="457200" y="987552"/>
            <a:ext cx="6035040" cy="228600"/>
          </a:xfrm>
          <a:prstGeom prst="rect">
            <a:avLst/>
          </a:prstGeom>
          <a:noFill/>
          <a:ln/>
        </p:spPr>
        <p:txBody>
          <a:bodyPr wrap="square" lIns="0" tIns="0" rIns="0" bIns="0" rtlCol="0" anchor="ctr"/>
          <a:lstStyle/>
          <a:p>
            <a:pPr indent="0" marL="0">
              <a:buNone/>
            </a:pPr>
            <a:r>
              <a:rPr lang="en-US" sz="900" dirty="0">
                <a:solidFill>
                  <a:srgbClr val="616161"/>
                </a:solidFill>
              </a:rPr>
              <a:t>ADO / #17 2026/4/1 ・ #19 2026/5/27 ・ #21 2026/6/16 ・ #30 2026/10/1 / いずれもレベル3</a:t>
            </a:r>
            <a:endParaRPr lang="en-US" sz="900" dirty="0"/>
          </a:p>
        </p:txBody>
      </p:sp>
      <p:sp>
        <p:nvSpPr>
          <p:cNvPr id="5" name="Shape 3"/>
          <p:cNvSpPr/>
          <p:nvPr/>
        </p:nvSpPr>
        <p:spPr>
          <a:xfrm>
            <a:off x="6583680" y="960120"/>
            <a:ext cx="2103120" cy="274320"/>
          </a:xfrm>
          <a:prstGeom prst="roundRect">
            <a:avLst>
              <a:gd name="adj" fmla="val 26667"/>
            </a:avLst>
          </a:prstGeom>
          <a:solidFill>
            <a:srgbClr val="E57373"/>
          </a:solidFill>
          <a:ln w="12700">
            <a:solidFill>
              <a:srgbClr val="E57373"/>
            </a:solidFill>
            <a:prstDash val="solid"/>
          </a:ln>
        </p:spPr>
      </p:sp>
      <p:sp>
        <p:nvSpPr>
          <p:cNvPr id="6" name="Text 4"/>
          <p:cNvSpPr txBox="1"/>
          <p:nvPr/>
        </p:nvSpPr>
        <p:spPr>
          <a:xfrm>
            <a:off x="6583680" y="960120"/>
            <a:ext cx="2103120" cy="274320"/>
          </a:xfrm>
          <a:prstGeom prst="rect">
            <a:avLst/>
          </a:prstGeom>
          <a:noFill/>
          <a:ln/>
        </p:spPr>
        <p:txBody>
          <a:bodyPr wrap="square" lIns="0" tIns="0" rIns="0" bIns="0" rtlCol="0" anchor="ctr"/>
          <a:lstStyle/>
          <a:p>
            <a:pPr algn="ctr" indent="0" marL="0">
              <a:buNone/>
            </a:pPr>
            <a:r>
              <a:rPr lang="en-US" sz="850" b="1" dirty="0">
                <a:solidFill>
                  <a:srgbClr val="FFFFFF"/>
                </a:solidFill>
              </a:rPr>
              <a:t>再発（対策積み増し中）</a:t>
            </a:r>
            <a:endParaRPr lang="en-US" sz="850" dirty="0"/>
          </a:p>
        </p:txBody>
      </p:sp>
      <p:sp>
        <p:nvSpPr>
          <p:cNvPr id="7" name="Text 5"/>
          <p:cNvSpPr txBox="1"/>
          <p:nvPr/>
        </p:nvSpPr>
        <p:spPr>
          <a:xfrm>
            <a:off x="457200" y="1243584"/>
            <a:ext cx="8229600" cy="274320"/>
          </a:xfrm>
          <a:prstGeom prst="rect">
            <a:avLst/>
          </a:prstGeom>
          <a:noFill/>
          <a:ln/>
        </p:spPr>
        <p:txBody>
          <a:bodyPr wrap="square" lIns="0" tIns="0" rIns="0" bIns="0" rtlCol="0" anchor="ctr"/>
          <a:lstStyle/>
          <a:p>
            <a:pPr indent="0" marL="0">
              <a:buNone/>
            </a:pPr>
            <a:r>
              <a:rPr lang="en-US" sz="950" b="1" dirty="0">
                <a:solidFill>
                  <a:srgbClr val="B71C1C"/>
                </a:solidFill>
              </a:rPr>
              <a:t>影響範囲：</a:t>
            </a:r>
            <a:pPr indent="0" marL="0">
              <a:buNone/>
            </a:pPr>
            <a:r>
              <a:rPr lang="en-US" sz="950" dirty="0">
                <a:solidFill>
                  <a:srgbClr val="222222"/>
                </a:solidFill>
              </a:rPr>
              <a:t>#17 日本郵便 224万円の支払漏れ ／ #19 ヤーマン 153万円・#21 クラスメソッド 96万円・#30 オンワード 297万円の過重払い（返金・相殺で解消）</a:t>
            </a:r>
            <a:endParaRPr lang="en-US" sz="950" dirty="0"/>
          </a:p>
        </p:txBody>
      </p:sp>
      <p:sp>
        <p:nvSpPr>
          <p:cNvPr id="8" name="Shape 6"/>
          <p:cNvSpPr/>
          <p:nvPr/>
        </p:nvSpPr>
        <p:spPr>
          <a:xfrm>
            <a:off x="457200" y="1572768"/>
            <a:ext cx="8229600" cy="868680"/>
          </a:xfrm>
          <a:prstGeom prst="rect">
            <a:avLst/>
          </a:prstGeom>
          <a:solidFill>
            <a:srgbClr val="F4F4F4"/>
          </a:solidFill>
          <a:ln w="12700">
            <a:solidFill>
              <a:srgbClr val="F4F4F4"/>
            </a:solidFill>
            <a:prstDash val="solid"/>
          </a:ln>
        </p:spPr>
      </p:sp>
      <p:sp>
        <p:nvSpPr>
          <p:cNvPr id="9" name="Text 7"/>
          <p:cNvSpPr txBox="1"/>
          <p:nvPr/>
        </p:nvSpPr>
        <p:spPr>
          <a:xfrm>
            <a:off x="548640" y="16093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原因</a:t>
            </a:r>
            <a:endParaRPr lang="en-US" sz="850" dirty="0"/>
          </a:p>
        </p:txBody>
      </p:sp>
      <p:sp>
        <p:nvSpPr>
          <p:cNvPr id="10" name="Text 8"/>
          <p:cNvSpPr txBox="1"/>
          <p:nvPr/>
        </p:nvSpPr>
        <p:spPr>
          <a:xfrm>
            <a:off x="548640" y="1810512"/>
            <a:ext cx="8046720" cy="594360"/>
          </a:xfrm>
          <a:prstGeom prst="rect">
            <a:avLst/>
          </a:prstGeom>
          <a:noFill/>
          <a:ln/>
        </p:spPr>
        <p:txBody>
          <a:bodyPr wrap="square" lIns="0" tIns="0" rIns="0" bIns="0" rtlCol="0" anchor="t"/>
          <a:lstStyle/>
          <a:p>
            <a:pPr indent="0" marL="0">
              <a:buNone/>
            </a:pPr>
            <a:r>
              <a:rPr lang="en-US" sz="850" dirty="0">
                <a:solidFill>
                  <a:srgbClr val="222222"/>
                </a:solidFill>
              </a:rPr>
              <a:t>freeeの支払管理レポートのステータス操作ミス（#17）、修正作業のミス（#19）、2部門からの重複申請（#21）、誤仕訳＋資産照合の未実施＋AIチェックが検出したのに「問題なし」と判断（#30）。原因が毎回少しずつ違い、人の確認で止めきれていない。</a:t>
            </a:r>
            <a:endParaRPr lang="en-US" sz="850" dirty="0"/>
          </a:p>
        </p:txBody>
      </p:sp>
      <p:sp>
        <p:nvSpPr>
          <p:cNvPr id="11" name="Shape 9"/>
          <p:cNvSpPr/>
          <p:nvPr/>
        </p:nvSpPr>
        <p:spPr>
          <a:xfrm>
            <a:off x="457200" y="2487168"/>
            <a:ext cx="8229600" cy="868680"/>
          </a:xfrm>
          <a:prstGeom prst="rect">
            <a:avLst/>
          </a:prstGeom>
          <a:solidFill>
            <a:srgbClr val="F4F4F4"/>
          </a:solidFill>
          <a:ln w="12700">
            <a:solidFill>
              <a:srgbClr val="F4F4F4"/>
            </a:solidFill>
            <a:prstDash val="solid"/>
          </a:ln>
        </p:spPr>
      </p:sp>
      <p:sp>
        <p:nvSpPr>
          <p:cNvPr id="12" name="Text 10"/>
          <p:cNvSpPr txBox="1"/>
          <p:nvPr/>
        </p:nvSpPr>
        <p:spPr>
          <a:xfrm>
            <a:off x="548640" y="25237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対策案（恒久対応）</a:t>
            </a:r>
            <a:endParaRPr lang="en-US" sz="850" dirty="0"/>
          </a:p>
        </p:txBody>
      </p:sp>
      <p:sp>
        <p:nvSpPr>
          <p:cNvPr id="13" name="Text 11"/>
          <p:cNvSpPr txBox="1"/>
          <p:nvPr/>
        </p:nvSpPr>
        <p:spPr>
          <a:xfrm>
            <a:off x="548640" y="2724912"/>
            <a:ext cx="8046720" cy="594360"/>
          </a:xfrm>
          <a:prstGeom prst="rect">
            <a:avLst/>
          </a:prstGeom>
          <a:noFill/>
          <a:ln/>
        </p:spPr>
        <p:txBody>
          <a:bodyPr wrap="square" lIns="0" tIns="0" rIns="0" bIns="0" rtlCol="0" anchor="t"/>
          <a:lstStyle/>
          <a:p>
            <a:pPr indent="0" marL="0">
              <a:buNone/>
            </a:pPr>
            <a:r>
              <a:rPr lang="en-US" sz="850" dirty="0">
                <a:solidFill>
                  <a:srgbClr val="222222"/>
                </a:solidFill>
              </a:rPr>
              <a:t>#17 件数チェック／#19 最終版請求書と支払依頼のWチェック、AIチェック完成までshuzoがトリプルチェック／#21 仮申請と差替後の金額差100万円以上を自動検知しSlack通知、AIチェックに重複検知を追加／#30 AIチェックのエラー件数を10件以内にする目標（完了予定2027/1/31）。</a:t>
            </a:r>
            <a:endParaRPr lang="en-US" sz="850" dirty="0"/>
          </a:p>
        </p:txBody>
      </p:sp>
      <p:sp>
        <p:nvSpPr>
          <p:cNvPr id="14" name="Shape 12"/>
          <p:cNvSpPr/>
          <p:nvPr/>
        </p:nvSpPr>
        <p:spPr>
          <a:xfrm>
            <a:off x="457200" y="3401568"/>
            <a:ext cx="8229600" cy="1097280"/>
          </a:xfrm>
          <a:prstGeom prst="rect">
            <a:avLst/>
          </a:prstGeom>
          <a:solidFill>
            <a:srgbClr val="F4F4F4"/>
          </a:solidFill>
          <a:ln w="12700">
            <a:solidFill>
              <a:srgbClr val="F4F4F4"/>
            </a:solidFill>
            <a:prstDash val="solid"/>
          </a:ln>
        </p:spPr>
      </p:sp>
      <p:sp>
        <p:nvSpPr>
          <p:cNvPr id="15" name="Text 13"/>
          <p:cNvSpPr txBox="1"/>
          <p:nvPr/>
        </p:nvSpPr>
        <p:spPr>
          <a:xfrm>
            <a:off x="548640" y="34381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実施確認の方法／状況</a:t>
            </a:r>
            <a:endParaRPr lang="en-US" sz="850" dirty="0"/>
          </a:p>
        </p:txBody>
      </p:sp>
      <p:sp>
        <p:nvSpPr>
          <p:cNvPr id="16" name="Text 14"/>
          <p:cNvSpPr txBox="1"/>
          <p:nvPr/>
        </p:nvSpPr>
        <p:spPr>
          <a:xfrm>
            <a:off x="548640" y="3639312"/>
            <a:ext cx="8046720" cy="822960"/>
          </a:xfrm>
          <a:prstGeom prst="rect">
            <a:avLst/>
          </a:prstGeom>
          <a:noFill/>
          <a:ln/>
        </p:spPr>
        <p:txBody>
          <a:bodyPr wrap="square" lIns="0" tIns="0" rIns="0" bIns="0" rtlCol="0" anchor="t"/>
          <a:lstStyle/>
          <a:p>
            <a:pPr indent="0" marL="0">
              <a:buNone/>
            </a:pPr>
            <a:r>
              <a:rPr lang="en-US" sz="850" dirty="0">
                <a:solidFill>
                  <a:srgbClr val="222222"/>
                </a:solidFill>
              </a:rPr>
              <a:t>・AIチェックの直近の検出一覧と、検出後に「問題なし」と判断した記録（誰が・何を根拠に）を確認</a:t>
            </a:r>
            <a:endParaRPr lang="en-US" sz="850" dirty="0"/>
          </a:p>
          <a:p>
            <a:pPr indent="0" marL="0">
              <a:buNone/>
            </a:pPr>
            <a:r>
              <a:rPr lang="en-US" sz="850" dirty="0">
                <a:solidFill>
                  <a:srgbClr val="222222"/>
                </a:solidFill>
              </a:rPr>
              <a:t>・100万円差異の自動Slack通知の設定と通知例、件数チェック・資産照合の直近月の記録を現物で確認</a:t>
            </a:r>
            <a:endParaRPr lang="en-US" sz="850" dirty="0"/>
          </a:p>
          <a:p>
            <a:pPr indent="0" marL="0">
              <a:buNone/>
            </a:pPr>
            <a:r>
              <a:rPr lang="en-US" sz="850" dirty="0">
                <a:solidFill>
                  <a:srgbClr val="222222"/>
                </a:solidFill>
              </a:rPr>
              <a:t>・#19「完了」直後に#21・#30が再発。#30の恒久対応は「目標」であり対策ではない。承認日はあるが役員会確認は全件空欄</a:t>
            </a:r>
            <a:endParaRPr lang="en-US" sz="850" dirty="0"/>
          </a:p>
        </p:txBody>
      </p:sp>
      <p:sp>
        <p:nvSpPr>
          <p:cNvPr id="17" name="Text 15"/>
          <p:cNvSpPr txBox="1"/>
          <p:nvPr/>
        </p:nvSpPr>
        <p:spPr>
          <a:xfrm>
            <a:off x="457200" y="4544568"/>
            <a:ext cx="8229600" cy="228600"/>
          </a:xfrm>
          <a:prstGeom prst="rect">
            <a:avLst/>
          </a:prstGeom>
          <a:noFill/>
          <a:ln/>
        </p:spPr>
        <p:txBody>
          <a:bodyPr wrap="square" lIns="0" tIns="0" rIns="0" bIns="0" rtlCol="0" anchor="ctr"/>
          <a:lstStyle/>
          <a:p>
            <a:pPr indent="0" marL="0">
              <a:buNone/>
            </a:pPr>
            <a:r>
              <a:rPr lang="en-US" sz="800" dirty="0">
                <a:solidFill>
                  <a:srgbClr val="616161"/>
                </a:solidFill>
              </a:rPr>
              <a:t>※ 人の確認を積み増す対策から、検出結果を「承認者が判断した記録」として残す運用への転換が論点。ADO②No.15（現預金照合）に直結</a:t>
            </a:r>
            <a:endParaRPr lang="en-US" sz="800" dirty="0"/>
          </a:p>
        </p:txBody>
      </p:sp>
      <p:sp>
        <p:nvSpPr>
          <p:cNvPr id="18"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indent="0" marL="0">
              <a:buNone/>
            </a:pP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CASE STUDY（レベル3）</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事例②：資金繰り：同じ事象の再発と、銀行遵守事項の違反</a:t>
            </a:r>
            <a:endParaRPr lang="en-US" sz="1800" dirty="0"/>
          </a:p>
        </p:txBody>
      </p:sp>
      <p:sp>
        <p:nvSpPr>
          <p:cNvPr id="4" name="Text 2"/>
          <p:cNvSpPr txBox="1"/>
          <p:nvPr/>
        </p:nvSpPr>
        <p:spPr>
          <a:xfrm>
            <a:off x="457200" y="987552"/>
            <a:ext cx="6035040" cy="228600"/>
          </a:xfrm>
          <a:prstGeom prst="rect">
            <a:avLst/>
          </a:prstGeom>
          <a:noFill/>
          <a:ln/>
        </p:spPr>
        <p:txBody>
          <a:bodyPr wrap="square" lIns="0" tIns="0" rIns="0" bIns="0" rtlCol="0" anchor="ctr"/>
          <a:lstStyle/>
          <a:p>
            <a:pPr indent="0" marL="0">
              <a:buNone/>
            </a:pPr>
            <a:r>
              <a:rPr lang="en-US" sz="900" dirty="0">
                <a:solidFill>
                  <a:srgbClr val="616161"/>
                </a:solidFill>
              </a:rPr>
              <a:t>ADO / ADG-19 発見日：2024/5/24 ・ #23 発生：2026/4/30・発見：2026/6/18 / いずれもレベル3</a:t>
            </a:r>
            <a:endParaRPr lang="en-US" sz="900" dirty="0"/>
          </a:p>
        </p:txBody>
      </p:sp>
      <p:sp>
        <p:nvSpPr>
          <p:cNvPr id="5" name="Shape 3"/>
          <p:cNvSpPr/>
          <p:nvPr/>
        </p:nvSpPr>
        <p:spPr>
          <a:xfrm>
            <a:off x="6583680" y="960120"/>
            <a:ext cx="2103120" cy="274320"/>
          </a:xfrm>
          <a:prstGeom prst="roundRect">
            <a:avLst>
              <a:gd name="adj" fmla="val 26667"/>
            </a:avLst>
          </a:prstGeom>
          <a:solidFill>
            <a:srgbClr val="E57373"/>
          </a:solidFill>
          <a:ln w="12700">
            <a:solidFill>
              <a:srgbClr val="E57373"/>
            </a:solidFill>
            <a:prstDash val="solid"/>
          </a:ln>
        </p:spPr>
      </p:sp>
      <p:sp>
        <p:nvSpPr>
          <p:cNvPr id="6" name="Text 4"/>
          <p:cNvSpPr txBox="1"/>
          <p:nvPr/>
        </p:nvSpPr>
        <p:spPr>
          <a:xfrm>
            <a:off x="6583680" y="960120"/>
            <a:ext cx="2103120" cy="274320"/>
          </a:xfrm>
          <a:prstGeom prst="rect">
            <a:avLst/>
          </a:prstGeom>
          <a:noFill/>
          <a:ln/>
        </p:spPr>
        <p:txBody>
          <a:bodyPr wrap="square" lIns="0" tIns="0" rIns="0" bIns="0" rtlCol="0" anchor="ctr"/>
          <a:lstStyle/>
          <a:p>
            <a:pPr algn="ctr" indent="0" marL="0">
              <a:buNone/>
            </a:pPr>
            <a:r>
              <a:rPr lang="en-US" sz="850" b="1" dirty="0">
                <a:solidFill>
                  <a:srgbClr val="FFFFFF"/>
                </a:solidFill>
              </a:rPr>
              <a:t>3回目・完了未記録</a:t>
            </a:r>
            <a:endParaRPr lang="en-US" sz="850" dirty="0"/>
          </a:p>
        </p:txBody>
      </p:sp>
      <p:sp>
        <p:nvSpPr>
          <p:cNvPr id="7" name="Text 5"/>
          <p:cNvSpPr txBox="1"/>
          <p:nvPr/>
        </p:nvSpPr>
        <p:spPr>
          <a:xfrm>
            <a:off x="457200" y="1243584"/>
            <a:ext cx="8229600" cy="274320"/>
          </a:xfrm>
          <a:prstGeom prst="rect">
            <a:avLst/>
          </a:prstGeom>
          <a:noFill/>
          <a:ln/>
        </p:spPr>
        <p:txBody>
          <a:bodyPr wrap="square" lIns="0" tIns="0" rIns="0" bIns="0" rtlCol="0" anchor="ctr"/>
          <a:lstStyle/>
          <a:p>
            <a:pPr indent="0" marL="0">
              <a:buNone/>
            </a:pPr>
            <a:r>
              <a:rPr lang="en-US" sz="950" b="1" dirty="0">
                <a:solidFill>
                  <a:srgbClr val="B71C1C"/>
                </a:solidFill>
              </a:rPr>
              <a:t>影響範囲：</a:t>
            </a:r>
            <a:pPr indent="0" marL="0">
              <a:buNone/>
            </a:pPr>
            <a:r>
              <a:rPr lang="en-US" sz="950" dirty="0">
                <a:solidFill>
                  <a:srgbClr val="222222"/>
                </a:solidFill>
              </a:rPr>
              <a:t>ADG-19 給与支給日に口座残高不足で振込エラー（2023/6のADG-14と同一事象） ／ #23 月末のみずほ銀行預金残高が融資残高を下回り、契約上の遵守事項に違反（銀行は返済請求が可能）</a:t>
            </a:r>
            <a:endParaRPr lang="en-US" sz="950" dirty="0"/>
          </a:p>
        </p:txBody>
      </p:sp>
      <p:sp>
        <p:nvSpPr>
          <p:cNvPr id="8" name="Shape 6"/>
          <p:cNvSpPr/>
          <p:nvPr/>
        </p:nvSpPr>
        <p:spPr>
          <a:xfrm>
            <a:off x="457200" y="1572768"/>
            <a:ext cx="8229600" cy="868680"/>
          </a:xfrm>
          <a:prstGeom prst="rect">
            <a:avLst/>
          </a:prstGeom>
          <a:solidFill>
            <a:srgbClr val="F4F4F4"/>
          </a:solidFill>
          <a:ln w="12700">
            <a:solidFill>
              <a:srgbClr val="F4F4F4"/>
            </a:solidFill>
            <a:prstDash val="solid"/>
          </a:ln>
        </p:spPr>
      </p:sp>
      <p:sp>
        <p:nvSpPr>
          <p:cNvPr id="9" name="Text 7"/>
          <p:cNvSpPr txBox="1"/>
          <p:nvPr/>
        </p:nvSpPr>
        <p:spPr>
          <a:xfrm>
            <a:off x="548640" y="16093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原因</a:t>
            </a:r>
            <a:endParaRPr lang="en-US" sz="850" dirty="0"/>
          </a:p>
        </p:txBody>
      </p:sp>
      <p:sp>
        <p:nvSpPr>
          <p:cNvPr id="10" name="Text 8"/>
          <p:cNvSpPr txBox="1"/>
          <p:nvPr/>
        </p:nvSpPr>
        <p:spPr>
          <a:xfrm>
            <a:off x="548640" y="1810512"/>
            <a:ext cx="8046720" cy="594360"/>
          </a:xfrm>
          <a:prstGeom prst="rect">
            <a:avLst/>
          </a:prstGeom>
          <a:noFill/>
          <a:ln/>
        </p:spPr>
        <p:txBody>
          <a:bodyPr wrap="square" lIns="0" tIns="0" rIns="0" bIns="0" rtlCol="0" anchor="t"/>
          <a:lstStyle/>
          <a:p>
            <a:pPr indent="0" marL="0">
              <a:buNone/>
            </a:pPr>
            <a:r>
              <a:rPr lang="en-US" sz="850" dirty="0">
                <a:solidFill>
                  <a:srgbClr val="222222"/>
                </a:solidFill>
              </a:rPr>
              <a:t>ADG-19：支払時の残高確認フローが漏れ、Wチェックでも気付けず。2023年の恒久対応が運用で守られなかった。 #23：ショップ統合インシデントで約1億円の入金が遅れた際、返済時期を遅らせたが、遵守事項（コベナンツ）自体を管理していなかった。</a:t>
            </a:r>
            <a:endParaRPr lang="en-US" sz="850" dirty="0"/>
          </a:p>
        </p:txBody>
      </p:sp>
      <p:sp>
        <p:nvSpPr>
          <p:cNvPr id="11" name="Shape 9"/>
          <p:cNvSpPr/>
          <p:nvPr/>
        </p:nvSpPr>
        <p:spPr>
          <a:xfrm>
            <a:off x="457200" y="2487168"/>
            <a:ext cx="8229600" cy="868680"/>
          </a:xfrm>
          <a:prstGeom prst="rect">
            <a:avLst/>
          </a:prstGeom>
          <a:solidFill>
            <a:srgbClr val="F4F4F4"/>
          </a:solidFill>
          <a:ln w="12700">
            <a:solidFill>
              <a:srgbClr val="F4F4F4"/>
            </a:solidFill>
            <a:prstDash val="solid"/>
          </a:ln>
        </p:spPr>
      </p:sp>
      <p:sp>
        <p:nvSpPr>
          <p:cNvPr id="12" name="Text 10"/>
          <p:cNvSpPr txBox="1"/>
          <p:nvPr/>
        </p:nvSpPr>
        <p:spPr>
          <a:xfrm>
            <a:off x="548640" y="25237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対策案（恒久対応）</a:t>
            </a:r>
            <a:endParaRPr lang="en-US" sz="850" dirty="0"/>
          </a:p>
        </p:txBody>
      </p:sp>
      <p:sp>
        <p:nvSpPr>
          <p:cNvPr id="13" name="Text 11"/>
          <p:cNvSpPr txBox="1"/>
          <p:nvPr/>
        </p:nvSpPr>
        <p:spPr>
          <a:xfrm>
            <a:off x="548640" y="2724912"/>
            <a:ext cx="8046720" cy="594360"/>
          </a:xfrm>
          <a:prstGeom prst="rect">
            <a:avLst/>
          </a:prstGeom>
          <a:noFill/>
          <a:ln/>
        </p:spPr>
        <p:txBody>
          <a:bodyPr wrap="square" lIns="0" tIns="0" rIns="0" bIns="0" rtlCol="0" anchor="t"/>
          <a:lstStyle/>
          <a:p>
            <a:pPr indent="0" marL="0">
              <a:buNone/>
            </a:pPr>
            <a:r>
              <a:rPr lang="en-US" sz="850" dirty="0">
                <a:solidFill>
                  <a:srgbClr val="222222"/>
                </a:solidFill>
              </a:rPr>
              <a:t>ADG-19：「仕組みというより運用の問題」としてカレンダーで毎月資金移動を設定（承認ash 2024/5/27・完了）。 #23：金融機関との契約書を全件洗い出して同種条件を確認、月2回の資金繰り確認時に遵守事項を確認（承認shuzo 2026/6/19・完了日なし）。</a:t>
            </a:r>
            <a:endParaRPr lang="en-US" sz="850" dirty="0"/>
          </a:p>
        </p:txBody>
      </p:sp>
      <p:sp>
        <p:nvSpPr>
          <p:cNvPr id="14" name="Shape 12"/>
          <p:cNvSpPr/>
          <p:nvPr/>
        </p:nvSpPr>
        <p:spPr>
          <a:xfrm>
            <a:off x="457200" y="3401568"/>
            <a:ext cx="8229600" cy="1097280"/>
          </a:xfrm>
          <a:prstGeom prst="rect">
            <a:avLst/>
          </a:prstGeom>
          <a:solidFill>
            <a:srgbClr val="F4F4F4"/>
          </a:solidFill>
          <a:ln w="12700">
            <a:solidFill>
              <a:srgbClr val="F4F4F4"/>
            </a:solidFill>
            <a:prstDash val="solid"/>
          </a:ln>
        </p:spPr>
      </p:sp>
      <p:sp>
        <p:nvSpPr>
          <p:cNvPr id="15" name="Text 13"/>
          <p:cNvSpPr txBox="1"/>
          <p:nvPr/>
        </p:nvSpPr>
        <p:spPr>
          <a:xfrm>
            <a:off x="548640" y="34381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実施確認の方法／状況</a:t>
            </a:r>
            <a:endParaRPr lang="en-US" sz="850" dirty="0"/>
          </a:p>
        </p:txBody>
      </p:sp>
      <p:sp>
        <p:nvSpPr>
          <p:cNvPr id="16" name="Text 14"/>
          <p:cNvSpPr txBox="1"/>
          <p:nvPr/>
        </p:nvSpPr>
        <p:spPr>
          <a:xfrm>
            <a:off x="548640" y="3639312"/>
            <a:ext cx="8046720" cy="822960"/>
          </a:xfrm>
          <a:prstGeom prst="rect">
            <a:avLst/>
          </a:prstGeom>
          <a:noFill/>
          <a:ln/>
        </p:spPr>
        <p:txBody>
          <a:bodyPr wrap="square" lIns="0" tIns="0" rIns="0" bIns="0" rtlCol="0" anchor="t"/>
          <a:lstStyle/>
          <a:p>
            <a:pPr indent="0" marL="0">
              <a:buNone/>
            </a:pPr>
            <a:r>
              <a:rPr lang="en-US" sz="850" dirty="0">
                <a:solidFill>
                  <a:srgbClr val="222222"/>
                </a:solidFill>
              </a:rPr>
              <a:t>・遵守事項を洗い出した一覧の現物と、月2回の資金繰り確認での確認記録</a:t>
            </a:r>
            <a:endParaRPr lang="en-US" sz="850" dirty="0"/>
          </a:p>
          <a:p>
            <a:pPr indent="0" marL="0">
              <a:buNone/>
            </a:pPr>
            <a:r>
              <a:rPr lang="en-US" sz="850" dirty="0">
                <a:solidFill>
                  <a:srgbClr val="222222"/>
                </a:solidFill>
              </a:rPr>
              <a:t>・毎月の資金移動のカレンダー設定が2024年から継続しているか</a:t>
            </a:r>
            <a:endParaRPr lang="en-US" sz="850" dirty="0"/>
          </a:p>
          <a:p>
            <a:pPr indent="0" marL="0">
              <a:buNone/>
            </a:pPr>
            <a:r>
              <a:rPr lang="en-US" sz="850" dirty="0">
                <a:solidFill>
                  <a:srgbClr val="222222"/>
                </a:solidFill>
              </a:rPr>
              <a:t>・財務制限条項違反として取締役会・監査役に報告したか。上場会社として開示要否の検討記録</a:t>
            </a:r>
            <a:endParaRPr lang="en-US" sz="850" dirty="0"/>
          </a:p>
        </p:txBody>
      </p:sp>
      <p:sp>
        <p:nvSpPr>
          <p:cNvPr id="17" name="Text 15"/>
          <p:cNvSpPr txBox="1"/>
          <p:nvPr/>
        </p:nvSpPr>
        <p:spPr>
          <a:xfrm>
            <a:off x="457200" y="4544568"/>
            <a:ext cx="8229600" cy="228600"/>
          </a:xfrm>
          <a:prstGeom prst="rect">
            <a:avLst/>
          </a:prstGeom>
          <a:noFill/>
          <a:ln/>
        </p:spPr>
        <p:txBody>
          <a:bodyPr wrap="square" lIns="0" tIns="0" rIns="0" bIns="0" rtlCol="0" anchor="ctr"/>
          <a:lstStyle/>
          <a:p>
            <a:pPr indent="0" marL="0">
              <a:buNone/>
            </a:pPr>
            <a:r>
              <a:rPr lang="en-US" sz="800" dirty="0">
                <a:solidFill>
                  <a:srgbClr val="616161"/>
                </a:solidFill>
              </a:rPr>
              <a:t>※ 2023→2024は恒久対応が運用で守られず再発。ADO②No.15・17（現預金・借入金）の自己評価「問題なし」との整合を確認</a:t>
            </a:r>
            <a:endParaRPr lang="en-US" sz="800" dirty="0"/>
          </a:p>
        </p:txBody>
      </p:sp>
      <p:sp>
        <p:nvSpPr>
          <p:cNvPr id="18"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indent="0" marL="0">
              <a:buNone/>
            </a:pP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CASE STUDY（レベル3）</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事例③：全社に求めるルールを自部門で破る（契約更新・事後稟議）</a:t>
            </a:r>
            <a:endParaRPr lang="en-US" sz="1800" dirty="0"/>
          </a:p>
        </p:txBody>
      </p:sp>
      <p:sp>
        <p:nvSpPr>
          <p:cNvPr id="4" name="Text 2"/>
          <p:cNvSpPr txBox="1"/>
          <p:nvPr/>
        </p:nvSpPr>
        <p:spPr>
          <a:xfrm>
            <a:off x="457200" y="987552"/>
            <a:ext cx="6035040" cy="228600"/>
          </a:xfrm>
          <a:prstGeom prst="rect">
            <a:avLst/>
          </a:prstGeom>
          <a:noFill/>
          <a:ln/>
        </p:spPr>
        <p:txBody>
          <a:bodyPr wrap="square" lIns="0" tIns="0" rIns="0" bIns="0" rtlCol="0" anchor="ctr"/>
          <a:lstStyle/>
          <a:p>
            <a:pPr indent="0" marL="0">
              <a:buNone/>
            </a:pPr>
            <a:r>
              <a:rPr lang="en-US" sz="900" dirty="0">
                <a:solidFill>
                  <a:srgbClr val="616161"/>
                </a:solidFill>
              </a:rPr>
              <a:t>ADO / #14 発見日：2025/10/27 ・ #25 発見日：2026/7/24 / いずれもレベル3</a:t>
            </a:r>
            <a:endParaRPr lang="en-US" sz="900" dirty="0"/>
          </a:p>
        </p:txBody>
      </p:sp>
      <p:sp>
        <p:nvSpPr>
          <p:cNvPr id="5" name="Shape 3"/>
          <p:cNvSpPr/>
          <p:nvPr/>
        </p:nvSpPr>
        <p:spPr>
          <a:xfrm>
            <a:off x="6583680" y="960120"/>
            <a:ext cx="2103120" cy="274320"/>
          </a:xfrm>
          <a:prstGeom prst="roundRect">
            <a:avLst>
              <a:gd name="adj" fmla="val 26667"/>
            </a:avLst>
          </a:prstGeom>
          <a:solidFill>
            <a:srgbClr val="FBC02D"/>
          </a:solidFill>
          <a:ln w="12700">
            <a:solidFill>
              <a:srgbClr val="FBC02D"/>
            </a:solidFill>
            <a:prstDash val="solid"/>
          </a:ln>
        </p:spPr>
      </p:sp>
      <p:sp>
        <p:nvSpPr>
          <p:cNvPr id="6" name="Text 4"/>
          <p:cNvSpPr txBox="1"/>
          <p:nvPr/>
        </p:nvSpPr>
        <p:spPr>
          <a:xfrm>
            <a:off x="6583680" y="960120"/>
            <a:ext cx="2103120" cy="274320"/>
          </a:xfrm>
          <a:prstGeom prst="rect">
            <a:avLst/>
          </a:prstGeom>
          <a:noFill/>
          <a:ln/>
        </p:spPr>
        <p:txBody>
          <a:bodyPr wrap="square" lIns="0" tIns="0" rIns="0" bIns="0" rtlCol="0" anchor="ctr"/>
          <a:lstStyle/>
          <a:p>
            <a:pPr algn="ctr" indent="0" marL="0">
              <a:buNone/>
            </a:pPr>
            <a:r>
              <a:rPr lang="en-US" sz="850" b="1" dirty="0">
                <a:solidFill>
                  <a:srgbClr val="FFFFFF"/>
                </a:solidFill>
              </a:rPr>
              <a:t>一部未記録・対策空欄</a:t>
            </a:r>
            <a:endParaRPr lang="en-US" sz="850" dirty="0"/>
          </a:p>
        </p:txBody>
      </p:sp>
      <p:sp>
        <p:nvSpPr>
          <p:cNvPr id="7" name="Text 5"/>
          <p:cNvSpPr txBox="1"/>
          <p:nvPr/>
        </p:nvSpPr>
        <p:spPr>
          <a:xfrm>
            <a:off x="457200" y="1243584"/>
            <a:ext cx="8229600" cy="274320"/>
          </a:xfrm>
          <a:prstGeom prst="rect">
            <a:avLst/>
          </a:prstGeom>
          <a:noFill/>
          <a:ln/>
        </p:spPr>
        <p:txBody>
          <a:bodyPr wrap="square" lIns="0" tIns="0" rIns="0" bIns="0" rtlCol="0" anchor="ctr"/>
          <a:lstStyle/>
          <a:p>
            <a:pPr indent="0" marL="0">
              <a:buNone/>
            </a:pPr>
            <a:r>
              <a:rPr lang="en-US" sz="950" b="1" dirty="0">
                <a:solidFill>
                  <a:srgbClr val="B71C1C"/>
                </a:solidFill>
              </a:rPr>
              <a:t>影響範囲：</a:t>
            </a:r>
            <a:pPr indent="0" marL="0">
              <a:buNone/>
            </a:pPr>
            <a:r>
              <a:rPr lang="en-US" sz="950" dirty="0">
                <a:solidFill>
                  <a:srgbClr val="222222"/>
                </a:solidFill>
              </a:rPr>
              <a:t>#14 スタイリスト8名の契約が期限切れのまま稼働 ／ #25 ジョブカン承認前に電子契約へサイン（事後稟議）</a:t>
            </a:r>
            <a:endParaRPr lang="en-US" sz="950" dirty="0"/>
          </a:p>
        </p:txBody>
      </p:sp>
      <p:sp>
        <p:nvSpPr>
          <p:cNvPr id="8" name="Shape 6"/>
          <p:cNvSpPr/>
          <p:nvPr/>
        </p:nvSpPr>
        <p:spPr>
          <a:xfrm>
            <a:off x="457200" y="1572768"/>
            <a:ext cx="8229600" cy="868680"/>
          </a:xfrm>
          <a:prstGeom prst="rect">
            <a:avLst/>
          </a:prstGeom>
          <a:solidFill>
            <a:srgbClr val="F4F4F4"/>
          </a:solidFill>
          <a:ln w="12700">
            <a:solidFill>
              <a:srgbClr val="F4F4F4"/>
            </a:solidFill>
            <a:prstDash val="solid"/>
          </a:ln>
        </p:spPr>
      </p:sp>
      <p:sp>
        <p:nvSpPr>
          <p:cNvPr id="9" name="Text 7"/>
          <p:cNvSpPr txBox="1"/>
          <p:nvPr/>
        </p:nvSpPr>
        <p:spPr>
          <a:xfrm>
            <a:off x="548640" y="16093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原因</a:t>
            </a:r>
            <a:endParaRPr lang="en-US" sz="850" dirty="0"/>
          </a:p>
        </p:txBody>
      </p:sp>
      <p:sp>
        <p:nvSpPr>
          <p:cNvPr id="10" name="Text 8"/>
          <p:cNvSpPr txBox="1"/>
          <p:nvPr/>
        </p:nvSpPr>
        <p:spPr>
          <a:xfrm>
            <a:off x="548640" y="1810512"/>
            <a:ext cx="8046720" cy="594360"/>
          </a:xfrm>
          <a:prstGeom prst="rect">
            <a:avLst/>
          </a:prstGeom>
          <a:noFill/>
          <a:ln/>
        </p:spPr>
        <p:txBody>
          <a:bodyPr wrap="square" lIns="0" tIns="0" rIns="0" bIns="0" rtlCol="0" anchor="t"/>
          <a:lstStyle/>
          <a:p>
            <a:pPr indent="0" marL="0">
              <a:buNone/>
            </a:pPr>
            <a:r>
              <a:rPr lang="en-US" sz="850" dirty="0">
                <a:solidFill>
                  <a:srgbClr val="222222"/>
                </a:solidFill>
              </a:rPr>
              <a:t>#14：JOBCANに最終版を添付するルールが守られず、電子契約が契約書台帳に網羅的に記載されているか確認する仕組みがなく、Botアラートも機能しなかった。 #25：2件同時進行で1件の起票を失念し、法務担当もジョブカンの承認状況を確認せずサイン。</a:t>
            </a:r>
            <a:endParaRPr lang="en-US" sz="850" dirty="0"/>
          </a:p>
        </p:txBody>
      </p:sp>
      <p:sp>
        <p:nvSpPr>
          <p:cNvPr id="11" name="Shape 9"/>
          <p:cNvSpPr/>
          <p:nvPr/>
        </p:nvSpPr>
        <p:spPr>
          <a:xfrm>
            <a:off x="457200" y="2487168"/>
            <a:ext cx="8229600" cy="868680"/>
          </a:xfrm>
          <a:prstGeom prst="rect">
            <a:avLst/>
          </a:prstGeom>
          <a:solidFill>
            <a:srgbClr val="F4F4F4"/>
          </a:solidFill>
          <a:ln w="12700">
            <a:solidFill>
              <a:srgbClr val="F4F4F4"/>
            </a:solidFill>
            <a:prstDash val="solid"/>
          </a:ln>
        </p:spPr>
      </p:sp>
      <p:sp>
        <p:nvSpPr>
          <p:cNvPr id="12" name="Text 10"/>
          <p:cNvSpPr txBox="1"/>
          <p:nvPr/>
        </p:nvSpPr>
        <p:spPr>
          <a:xfrm>
            <a:off x="548640" y="25237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対策案（恒久対応）</a:t>
            </a:r>
            <a:endParaRPr lang="en-US" sz="850" dirty="0"/>
          </a:p>
        </p:txBody>
      </p:sp>
      <p:sp>
        <p:nvSpPr>
          <p:cNvPr id="13" name="Text 11"/>
          <p:cNvSpPr txBox="1"/>
          <p:nvPr/>
        </p:nvSpPr>
        <p:spPr>
          <a:xfrm>
            <a:off x="548640" y="2724912"/>
            <a:ext cx="8046720" cy="594360"/>
          </a:xfrm>
          <a:prstGeom prst="rect">
            <a:avLst/>
          </a:prstGeom>
          <a:noFill/>
          <a:ln/>
        </p:spPr>
        <p:txBody>
          <a:bodyPr wrap="square" lIns="0" tIns="0" rIns="0" bIns="0" rtlCol="0" anchor="t"/>
          <a:lstStyle/>
          <a:p>
            <a:pPr indent="0" marL="0">
              <a:buNone/>
            </a:pPr>
            <a:r>
              <a:rPr lang="en-US" sz="850" dirty="0">
                <a:solidFill>
                  <a:srgbClr val="222222"/>
                </a:solidFill>
              </a:rPr>
              <a:t>#14（別シートNo14）：①最終版のJOBCAN添付の徹底 ②月次で電子契約の台帳網羅性を確認 ③台帳を「ひな型・自動更新あり／なし／その他」に区分しBotアラートを再構築。 #25：「仕組みの問題でなく確認洩れ」として運用徹底のみ（恒久対応策・承認・期限すべて空欄）。</a:t>
            </a:r>
            <a:endParaRPr lang="en-US" sz="850" dirty="0"/>
          </a:p>
        </p:txBody>
      </p:sp>
      <p:sp>
        <p:nvSpPr>
          <p:cNvPr id="14" name="Shape 12"/>
          <p:cNvSpPr/>
          <p:nvPr/>
        </p:nvSpPr>
        <p:spPr>
          <a:xfrm>
            <a:off x="457200" y="3401568"/>
            <a:ext cx="8229600" cy="1097280"/>
          </a:xfrm>
          <a:prstGeom prst="rect">
            <a:avLst/>
          </a:prstGeom>
          <a:solidFill>
            <a:srgbClr val="F4F4F4"/>
          </a:solidFill>
          <a:ln w="12700">
            <a:solidFill>
              <a:srgbClr val="F4F4F4"/>
            </a:solidFill>
            <a:prstDash val="solid"/>
          </a:ln>
        </p:spPr>
      </p:sp>
      <p:sp>
        <p:nvSpPr>
          <p:cNvPr id="15" name="Text 13"/>
          <p:cNvSpPr txBox="1"/>
          <p:nvPr/>
        </p:nvSpPr>
        <p:spPr>
          <a:xfrm>
            <a:off x="548640" y="34381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実施確認の方法／状況</a:t>
            </a:r>
            <a:endParaRPr lang="en-US" sz="850" dirty="0"/>
          </a:p>
        </p:txBody>
      </p:sp>
      <p:sp>
        <p:nvSpPr>
          <p:cNvPr id="16" name="Text 14"/>
          <p:cNvSpPr txBox="1"/>
          <p:nvPr/>
        </p:nvSpPr>
        <p:spPr>
          <a:xfrm>
            <a:off x="548640" y="3639312"/>
            <a:ext cx="8046720" cy="822960"/>
          </a:xfrm>
          <a:prstGeom prst="rect">
            <a:avLst/>
          </a:prstGeom>
          <a:noFill/>
          <a:ln/>
        </p:spPr>
        <p:txBody>
          <a:bodyPr wrap="square" lIns="0" tIns="0" rIns="0" bIns="0" rtlCol="0" anchor="t"/>
          <a:lstStyle/>
          <a:p>
            <a:pPr indent="0" marL="0">
              <a:buNone/>
            </a:pPr>
            <a:r>
              <a:rPr lang="en-US" sz="850" dirty="0">
                <a:solidFill>
                  <a:srgbClr val="222222"/>
                </a:solidFill>
              </a:rPr>
              <a:t>・契約書台帳（区分・満了日・Bot設定）と、月次網羅性確認の記録を現物で確認</a:t>
            </a:r>
            <a:endParaRPr lang="en-US" sz="850" dirty="0"/>
          </a:p>
          <a:p>
            <a:pPr indent="0" marL="0">
              <a:buNone/>
            </a:pPr>
            <a:r>
              <a:rPr lang="en-US" sz="850" dirty="0">
                <a:solidFill>
                  <a:srgbClr val="222222"/>
                </a:solidFill>
              </a:rPr>
              <a:t>・#14は承認者shuzoのみで承認日・期限・完了なし。#25は恒久対応策自体が空欄</a:t>
            </a:r>
            <a:endParaRPr lang="en-US" sz="850" dirty="0"/>
          </a:p>
          <a:p>
            <a:pPr indent="0" marL="0">
              <a:buNone/>
            </a:pPr>
            <a:r>
              <a:rPr lang="en-US" sz="850" dirty="0">
                <a:solidFill>
                  <a:srgbClr val="222222"/>
                </a:solidFill>
              </a:rPr>
              <a:t>・ジョブカン承認日と契約締結日の順序を直近3件で確認。#25は起票者が倉石のため森本がレビュー</a:t>
            </a:r>
            <a:endParaRPr lang="en-US" sz="850" dirty="0"/>
          </a:p>
        </p:txBody>
      </p:sp>
      <p:sp>
        <p:nvSpPr>
          <p:cNvPr id="17" name="Text 15"/>
          <p:cNvSpPr txBox="1"/>
          <p:nvPr/>
        </p:nvSpPr>
        <p:spPr>
          <a:xfrm>
            <a:off x="457200" y="4544568"/>
            <a:ext cx="8229600" cy="228600"/>
          </a:xfrm>
          <a:prstGeom prst="rect">
            <a:avLst/>
          </a:prstGeom>
          <a:noFill/>
          <a:ln/>
        </p:spPr>
        <p:txBody>
          <a:bodyPr wrap="square" lIns="0" tIns="0" rIns="0" bIns="0" rtlCol="0" anchor="ctr"/>
          <a:lstStyle/>
          <a:p>
            <a:pPr indent="0" marL="0">
              <a:buNone/>
            </a:pPr>
            <a:r>
              <a:rPr lang="en-US" sz="800" dirty="0">
                <a:solidFill>
                  <a:srgbClr val="616161"/>
                </a:solidFill>
              </a:rPr>
              <a:t>※ ADO②No.14（決裁ルート）・No.28（契約一覧表）の自己評価と、自部門の実態の乖離を確認する事例</a:t>
            </a:r>
            <a:endParaRPr lang="en-US" sz="800" dirty="0"/>
          </a:p>
        </p:txBody>
      </p:sp>
      <p:sp>
        <p:nvSpPr>
          <p:cNvPr id="18"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indent="0" marL="0">
              <a:buNone/>
            </a:pP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CASE STUDY（レベル3）</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事例④：給与・交通費の計算ミス（社労士／SCSK連携シート起点）</a:t>
            </a:r>
            <a:endParaRPr lang="en-US" sz="1800" dirty="0"/>
          </a:p>
        </p:txBody>
      </p:sp>
      <p:sp>
        <p:nvSpPr>
          <p:cNvPr id="4" name="Text 2"/>
          <p:cNvSpPr txBox="1"/>
          <p:nvPr/>
        </p:nvSpPr>
        <p:spPr>
          <a:xfrm>
            <a:off x="457200" y="987552"/>
            <a:ext cx="6035040" cy="228600"/>
          </a:xfrm>
          <a:prstGeom prst="rect">
            <a:avLst/>
          </a:prstGeom>
          <a:noFill/>
          <a:ln/>
        </p:spPr>
        <p:txBody>
          <a:bodyPr wrap="square" lIns="0" tIns="0" rIns="0" bIns="0" rtlCol="0" anchor="ctr"/>
          <a:lstStyle/>
          <a:p>
            <a:pPr indent="0" marL="0">
              <a:buNone/>
            </a:pPr>
            <a:r>
              <a:rPr lang="en-US" sz="900" dirty="0">
                <a:solidFill>
                  <a:srgbClr val="616161"/>
                </a:solidFill>
              </a:rPr>
              <a:t>ADO / #7 2025/3/25 ・ #20 2026/5/27 ・ #22 2026/6/19 ・ #29 2026/9/28 / いずれもレベル3</a:t>
            </a:r>
            <a:endParaRPr lang="en-US" sz="900" dirty="0"/>
          </a:p>
        </p:txBody>
      </p:sp>
      <p:sp>
        <p:nvSpPr>
          <p:cNvPr id="5" name="Shape 3"/>
          <p:cNvSpPr/>
          <p:nvPr/>
        </p:nvSpPr>
        <p:spPr>
          <a:xfrm>
            <a:off x="6583680" y="960120"/>
            <a:ext cx="2103120" cy="274320"/>
          </a:xfrm>
          <a:prstGeom prst="roundRect">
            <a:avLst>
              <a:gd name="adj" fmla="val 26667"/>
            </a:avLst>
          </a:prstGeom>
          <a:solidFill>
            <a:srgbClr val="FBC02D"/>
          </a:solidFill>
          <a:ln w="12700">
            <a:solidFill>
              <a:srgbClr val="FBC02D"/>
            </a:solidFill>
            <a:prstDash val="solid"/>
          </a:ln>
        </p:spPr>
      </p:sp>
      <p:sp>
        <p:nvSpPr>
          <p:cNvPr id="6" name="Text 4"/>
          <p:cNvSpPr txBox="1"/>
          <p:nvPr/>
        </p:nvSpPr>
        <p:spPr>
          <a:xfrm>
            <a:off x="6583680" y="960120"/>
            <a:ext cx="2103120" cy="274320"/>
          </a:xfrm>
          <a:prstGeom prst="rect">
            <a:avLst/>
          </a:prstGeom>
          <a:noFill/>
          <a:ln/>
        </p:spPr>
        <p:txBody>
          <a:bodyPr wrap="square" lIns="0" tIns="0" rIns="0" bIns="0" rtlCol="0" anchor="ctr"/>
          <a:lstStyle/>
          <a:p>
            <a:pPr algn="ctr" indent="0" marL="0">
              <a:buNone/>
            </a:pPr>
            <a:r>
              <a:rPr lang="en-US" sz="850" b="1" dirty="0">
                <a:solidFill>
                  <a:srgbClr val="FFFFFF"/>
                </a:solidFill>
              </a:rPr>
              <a:t>一部完了・有効性は見込み</a:t>
            </a:r>
            <a:endParaRPr lang="en-US" sz="850" dirty="0"/>
          </a:p>
        </p:txBody>
      </p:sp>
      <p:sp>
        <p:nvSpPr>
          <p:cNvPr id="7" name="Text 5"/>
          <p:cNvSpPr txBox="1"/>
          <p:nvPr/>
        </p:nvSpPr>
        <p:spPr>
          <a:xfrm>
            <a:off x="457200" y="1243584"/>
            <a:ext cx="8229600" cy="274320"/>
          </a:xfrm>
          <a:prstGeom prst="rect">
            <a:avLst/>
          </a:prstGeom>
          <a:noFill/>
          <a:ln/>
        </p:spPr>
        <p:txBody>
          <a:bodyPr wrap="square" lIns="0" tIns="0" rIns="0" bIns="0" rtlCol="0" anchor="ctr"/>
          <a:lstStyle/>
          <a:p>
            <a:pPr indent="0" marL="0">
              <a:buNone/>
            </a:pPr>
            <a:r>
              <a:rPr lang="en-US" sz="950" b="1" dirty="0">
                <a:solidFill>
                  <a:srgbClr val="B71C1C"/>
                </a:solidFill>
              </a:rPr>
              <a:t>影響範囲：</a:t>
            </a:r>
            <a:pPr indent="0" marL="0">
              <a:buNone/>
            </a:pPr>
            <a:r>
              <a:rPr lang="en-US" sz="950" dirty="0">
                <a:solidFill>
                  <a:srgbClr val="222222"/>
                </a:solidFill>
              </a:rPr>
              <a:t>#7 受賞者3名の給与過小（7万円） ／ #20 2名に早出残業手当を誤支給 ／ #22 社保控除で給与マイナス時の立替控除漏れ ／ #29 休職復帰者の日割り給与が1日分不足</a:t>
            </a:r>
            <a:endParaRPr lang="en-US" sz="950" dirty="0"/>
          </a:p>
        </p:txBody>
      </p:sp>
      <p:sp>
        <p:nvSpPr>
          <p:cNvPr id="8" name="Shape 6"/>
          <p:cNvSpPr/>
          <p:nvPr/>
        </p:nvSpPr>
        <p:spPr>
          <a:xfrm>
            <a:off x="457200" y="1572768"/>
            <a:ext cx="8229600" cy="868680"/>
          </a:xfrm>
          <a:prstGeom prst="rect">
            <a:avLst/>
          </a:prstGeom>
          <a:solidFill>
            <a:srgbClr val="F4F4F4"/>
          </a:solidFill>
          <a:ln w="12700">
            <a:solidFill>
              <a:srgbClr val="F4F4F4"/>
            </a:solidFill>
            <a:prstDash val="solid"/>
          </a:ln>
        </p:spPr>
      </p:sp>
      <p:sp>
        <p:nvSpPr>
          <p:cNvPr id="9" name="Text 7"/>
          <p:cNvSpPr txBox="1"/>
          <p:nvPr/>
        </p:nvSpPr>
        <p:spPr>
          <a:xfrm>
            <a:off x="548640" y="16093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原因</a:t>
            </a:r>
            <a:endParaRPr lang="en-US" sz="850" dirty="0"/>
          </a:p>
        </p:txBody>
      </p:sp>
      <p:sp>
        <p:nvSpPr>
          <p:cNvPr id="10" name="Text 8"/>
          <p:cNvSpPr txBox="1"/>
          <p:nvPr/>
        </p:nvSpPr>
        <p:spPr>
          <a:xfrm>
            <a:off x="548640" y="1810512"/>
            <a:ext cx="8046720" cy="594360"/>
          </a:xfrm>
          <a:prstGeom prst="rect">
            <a:avLst/>
          </a:prstGeom>
          <a:noFill/>
          <a:ln/>
        </p:spPr>
        <p:txBody>
          <a:bodyPr wrap="square" lIns="0" tIns="0" rIns="0" bIns="0" rtlCol="0" anchor="t"/>
          <a:lstStyle/>
          <a:p>
            <a:pPr indent="0" marL="0">
              <a:buNone/>
            </a:pPr>
            <a:r>
              <a:rPr lang="en-US" sz="850" dirty="0">
                <a:solidFill>
                  <a:srgbClr val="222222"/>
                </a:solidFill>
              </a:rPr>
              <a:t>労務と財務の認識相違（#7）、SCSK連携シートの関数の入力箇所を検知できないチェック体制（#20）、チェックリストを正として手順の本質を理解していなかった（#22）、ジョブカンの実打刻日のみで日割り計算し有給の全休日を含めず（#29）。</a:t>
            </a:r>
            <a:endParaRPr lang="en-US" sz="850" dirty="0"/>
          </a:p>
        </p:txBody>
      </p:sp>
      <p:sp>
        <p:nvSpPr>
          <p:cNvPr id="11" name="Shape 9"/>
          <p:cNvSpPr/>
          <p:nvPr/>
        </p:nvSpPr>
        <p:spPr>
          <a:xfrm>
            <a:off x="457200" y="2487168"/>
            <a:ext cx="8229600" cy="868680"/>
          </a:xfrm>
          <a:prstGeom prst="rect">
            <a:avLst/>
          </a:prstGeom>
          <a:solidFill>
            <a:srgbClr val="F4F4F4"/>
          </a:solidFill>
          <a:ln w="12700">
            <a:solidFill>
              <a:srgbClr val="F4F4F4"/>
            </a:solidFill>
            <a:prstDash val="solid"/>
          </a:ln>
        </p:spPr>
      </p:sp>
      <p:sp>
        <p:nvSpPr>
          <p:cNvPr id="12" name="Text 10"/>
          <p:cNvSpPr txBox="1"/>
          <p:nvPr/>
        </p:nvSpPr>
        <p:spPr>
          <a:xfrm>
            <a:off x="548640" y="25237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対策案（恒久対応）</a:t>
            </a:r>
            <a:endParaRPr lang="en-US" sz="850" dirty="0"/>
          </a:p>
        </p:txBody>
      </p:sp>
      <p:sp>
        <p:nvSpPr>
          <p:cNvPr id="13" name="Text 11"/>
          <p:cNvSpPr txBox="1"/>
          <p:nvPr/>
        </p:nvSpPr>
        <p:spPr>
          <a:xfrm>
            <a:off x="548640" y="2724912"/>
            <a:ext cx="8046720" cy="594360"/>
          </a:xfrm>
          <a:prstGeom prst="rect">
            <a:avLst/>
          </a:prstGeom>
          <a:noFill/>
          <a:ln/>
        </p:spPr>
        <p:txBody>
          <a:bodyPr wrap="square" lIns="0" tIns="0" rIns="0" bIns="0" rtlCol="0" anchor="t"/>
          <a:lstStyle/>
          <a:p>
            <a:pPr indent="0" marL="0">
              <a:buNone/>
            </a:pPr>
            <a:r>
              <a:rPr lang="en-US" sz="850" dirty="0">
                <a:solidFill>
                  <a:srgbClr val="222222"/>
                </a:solidFill>
              </a:rPr>
              <a:t>#7 給与台帳と支払金額の一致確認、差異はADO長が確認／#20 みなし残業時間を別列に入力し関数が参照する形式に修正／#22 イレギュラー支払チェックリストを作成し毎月チェック／#29 日割り対象者の出勤簿を個別確認しマニュアル化。</a:t>
            </a:r>
            <a:endParaRPr lang="en-US" sz="850" dirty="0"/>
          </a:p>
        </p:txBody>
      </p:sp>
      <p:sp>
        <p:nvSpPr>
          <p:cNvPr id="14" name="Shape 12"/>
          <p:cNvSpPr/>
          <p:nvPr/>
        </p:nvSpPr>
        <p:spPr>
          <a:xfrm>
            <a:off x="457200" y="3401568"/>
            <a:ext cx="8229600" cy="1097280"/>
          </a:xfrm>
          <a:prstGeom prst="rect">
            <a:avLst/>
          </a:prstGeom>
          <a:solidFill>
            <a:srgbClr val="F4F4F4"/>
          </a:solidFill>
          <a:ln w="12700">
            <a:solidFill>
              <a:srgbClr val="F4F4F4"/>
            </a:solidFill>
            <a:prstDash val="solid"/>
          </a:ln>
        </p:spPr>
      </p:sp>
      <p:sp>
        <p:nvSpPr>
          <p:cNvPr id="15" name="Text 13"/>
          <p:cNvSpPr txBox="1"/>
          <p:nvPr/>
        </p:nvSpPr>
        <p:spPr>
          <a:xfrm>
            <a:off x="548640" y="34381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実施確認の方法／状況</a:t>
            </a:r>
            <a:endParaRPr lang="en-US" sz="850" dirty="0"/>
          </a:p>
        </p:txBody>
      </p:sp>
      <p:sp>
        <p:nvSpPr>
          <p:cNvPr id="16" name="Text 14"/>
          <p:cNvSpPr txBox="1"/>
          <p:nvPr/>
        </p:nvSpPr>
        <p:spPr>
          <a:xfrm>
            <a:off x="548640" y="3639312"/>
            <a:ext cx="8046720" cy="822960"/>
          </a:xfrm>
          <a:prstGeom prst="rect">
            <a:avLst/>
          </a:prstGeom>
          <a:noFill/>
          <a:ln/>
        </p:spPr>
        <p:txBody>
          <a:bodyPr wrap="square" lIns="0" tIns="0" rIns="0" bIns="0" rtlCol="0" anchor="t"/>
          <a:lstStyle/>
          <a:p>
            <a:pPr indent="0" marL="0">
              <a:buNone/>
            </a:pPr>
            <a:r>
              <a:rPr lang="en-US" sz="850" dirty="0">
                <a:solidFill>
                  <a:srgbClr val="222222"/>
                </a:solidFill>
              </a:rPr>
              <a:t>・チェックリスト（#22）・修正後の連携シート（#20）・マニュアル（#29）の現物と、直近月の実施記録</a:t>
            </a:r>
            <a:endParaRPr lang="en-US" sz="850" dirty="0"/>
          </a:p>
          <a:p>
            <a:pPr indent="0" marL="0">
              <a:buNone/>
            </a:pPr>
            <a:r>
              <a:rPr lang="en-US" sz="850" dirty="0">
                <a:solidFill>
                  <a:srgbClr val="222222"/>
                </a:solidFill>
              </a:rPr>
              <a:t>・#22・#29は完了日あり。#7・#20は完了予定日を過ぎて完了日なし</a:t>
            </a:r>
            <a:endParaRPr lang="en-US" sz="850" dirty="0"/>
          </a:p>
          <a:p>
            <a:pPr indent="0" marL="0">
              <a:buNone/>
            </a:pPr>
            <a:r>
              <a:rPr lang="en-US" sz="850" dirty="0">
                <a:solidFill>
                  <a:srgbClr val="222222"/>
                </a:solidFill>
              </a:rPr>
              <a:t>・有効性欄の記述は「効くと考える」という見込み。チェックリスト化後に同種が再発していないか（#15・#18の交通費を含め2025〜2026で6件）</a:t>
            </a:r>
            <a:endParaRPr lang="en-US" sz="850" dirty="0"/>
          </a:p>
        </p:txBody>
      </p:sp>
      <p:sp>
        <p:nvSpPr>
          <p:cNvPr id="17" name="Text 15"/>
          <p:cNvSpPr txBox="1"/>
          <p:nvPr/>
        </p:nvSpPr>
        <p:spPr>
          <a:xfrm>
            <a:off x="457200" y="4544568"/>
            <a:ext cx="8229600" cy="228600"/>
          </a:xfrm>
          <a:prstGeom prst="rect">
            <a:avLst/>
          </a:prstGeom>
          <a:noFill/>
          <a:ln/>
        </p:spPr>
        <p:txBody>
          <a:bodyPr wrap="square" lIns="0" tIns="0" rIns="0" bIns="0" rtlCol="0" anchor="ctr"/>
          <a:lstStyle/>
          <a:p>
            <a:pPr indent="0" marL="0">
              <a:buNone/>
            </a:pPr>
            <a:r>
              <a:rPr lang="en-US" sz="800" dirty="0">
                <a:solidFill>
                  <a:srgbClr val="616161"/>
                </a:solidFill>
              </a:rPr>
              <a:t>※ 対策がチェックリスト・関数化という構造的な形に進んだ領域。実装確認がしやすい分、「使われているか」を厳しく見る</a:t>
            </a:r>
            <a:endParaRPr lang="en-US" sz="800" dirty="0"/>
          </a:p>
        </p:txBody>
      </p:sp>
      <p:sp>
        <p:nvSpPr>
          <p:cNvPr id="18"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indent="0" marL="0">
              <a:buNone/>
            </a:pP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CASE STUDY（レベル3）</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事例⑤：上場会社としての開示・税務手続きのミス</a:t>
            </a:r>
            <a:endParaRPr lang="en-US" sz="1800" dirty="0"/>
          </a:p>
        </p:txBody>
      </p:sp>
      <p:sp>
        <p:nvSpPr>
          <p:cNvPr id="4" name="Text 2"/>
          <p:cNvSpPr txBox="1"/>
          <p:nvPr/>
        </p:nvSpPr>
        <p:spPr>
          <a:xfrm>
            <a:off x="457200" y="987552"/>
            <a:ext cx="6035040" cy="228600"/>
          </a:xfrm>
          <a:prstGeom prst="rect">
            <a:avLst/>
          </a:prstGeom>
          <a:noFill/>
          <a:ln/>
        </p:spPr>
        <p:txBody>
          <a:bodyPr wrap="square" lIns="0" tIns="0" rIns="0" bIns="0" rtlCol="0" anchor="ctr"/>
          <a:lstStyle/>
          <a:p>
            <a:pPr indent="0" marL="0">
              <a:buNone/>
            </a:pPr>
            <a:r>
              <a:rPr lang="en-US" sz="900" dirty="0">
                <a:solidFill>
                  <a:srgbClr val="616161"/>
                </a:solidFill>
              </a:rPr>
              <a:t>ADO / #10 発見日：2025/8/13（Lv3） ・ #12 2025/9/5（Lv2） ・ #24 2026/7/22（Lv3）</a:t>
            </a:r>
            <a:endParaRPr lang="en-US" sz="900" dirty="0"/>
          </a:p>
        </p:txBody>
      </p:sp>
      <p:sp>
        <p:nvSpPr>
          <p:cNvPr id="5" name="Shape 3"/>
          <p:cNvSpPr/>
          <p:nvPr/>
        </p:nvSpPr>
        <p:spPr>
          <a:xfrm>
            <a:off x="6583680" y="960120"/>
            <a:ext cx="2103120" cy="274320"/>
          </a:xfrm>
          <a:prstGeom prst="roundRect">
            <a:avLst>
              <a:gd name="adj" fmla="val 26667"/>
            </a:avLst>
          </a:prstGeom>
          <a:solidFill>
            <a:srgbClr val="E57373"/>
          </a:solidFill>
          <a:ln w="12700">
            <a:solidFill>
              <a:srgbClr val="E57373"/>
            </a:solidFill>
            <a:prstDash val="solid"/>
          </a:ln>
        </p:spPr>
      </p:sp>
      <p:sp>
        <p:nvSpPr>
          <p:cNvPr id="6" name="Text 4"/>
          <p:cNvSpPr txBox="1"/>
          <p:nvPr/>
        </p:nvSpPr>
        <p:spPr>
          <a:xfrm>
            <a:off x="6583680" y="960120"/>
            <a:ext cx="2103120" cy="274320"/>
          </a:xfrm>
          <a:prstGeom prst="rect">
            <a:avLst/>
          </a:prstGeom>
          <a:noFill/>
          <a:ln/>
        </p:spPr>
        <p:txBody>
          <a:bodyPr wrap="square" lIns="0" tIns="0" rIns="0" bIns="0" rtlCol="0" anchor="ctr"/>
          <a:lstStyle/>
          <a:p>
            <a:pPr algn="ctr" indent="0" marL="0">
              <a:buNone/>
            </a:pPr>
            <a:r>
              <a:rPr lang="en-US" sz="850" b="1" dirty="0">
                <a:solidFill>
                  <a:srgbClr val="FFFFFF"/>
                </a:solidFill>
              </a:rPr>
              <a:t>期限超過・対策空欄あり</a:t>
            </a:r>
            <a:endParaRPr lang="en-US" sz="850" dirty="0"/>
          </a:p>
        </p:txBody>
      </p:sp>
      <p:sp>
        <p:nvSpPr>
          <p:cNvPr id="7" name="Text 5"/>
          <p:cNvSpPr txBox="1"/>
          <p:nvPr/>
        </p:nvSpPr>
        <p:spPr>
          <a:xfrm>
            <a:off x="457200" y="1243584"/>
            <a:ext cx="8229600" cy="274320"/>
          </a:xfrm>
          <a:prstGeom prst="rect">
            <a:avLst/>
          </a:prstGeom>
          <a:noFill/>
          <a:ln/>
        </p:spPr>
        <p:txBody>
          <a:bodyPr wrap="square" lIns="0" tIns="0" rIns="0" bIns="0" rtlCol="0" anchor="ctr"/>
          <a:lstStyle/>
          <a:p>
            <a:pPr indent="0" marL="0">
              <a:buNone/>
            </a:pPr>
            <a:r>
              <a:rPr lang="en-US" sz="950" b="1" dirty="0">
                <a:solidFill>
                  <a:srgbClr val="B71C1C"/>
                </a:solidFill>
              </a:rPr>
              <a:t>影響範囲：</a:t>
            </a:r>
            <a:pPr indent="0" marL="0">
              <a:buNone/>
            </a:pPr>
            <a:r>
              <a:rPr lang="en-US" sz="950" dirty="0">
                <a:solidFill>
                  <a:srgbClr val="222222"/>
                </a:solidFill>
              </a:rPr>
              <a:t>#10 借入れの適時開示漏れ（東証からの指摘で決算開示と同時に提出） ／ #12 源泉所得税の申告年月誤りで未受理・未納（延滞税） ／ #24 Meta広告費の消費税区分誤りで広告宣伝費が過少計上</a:t>
            </a:r>
            <a:endParaRPr lang="en-US" sz="950" dirty="0"/>
          </a:p>
        </p:txBody>
      </p:sp>
      <p:sp>
        <p:nvSpPr>
          <p:cNvPr id="8" name="Shape 6"/>
          <p:cNvSpPr/>
          <p:nvPr/>
        </p:nvSpPr>
        <p:spPr>
          <a:xfrm>
            <a:off x="457200" y="1572768"/>
            <a:ext cx="8229600" cy="868680"/>
          </a:xfrm>
          <a:prstGeom prst="rect">
            <a:avLst/>
          </a:prstGeom>
          <a:solidFill>
            <a:srgbClr val="F4F4F4"/>
          </a:solidFill>
          <a:ln w="12700">
            <a:solidFill>
              <a:srgbClr val="F4F4F4"/>
            </a:solidFill>
            <a:prstDash val="solid"/>
          </a:ln>
        </p:spPr>
      </p:sp>
      <p:sp>
        <p:nvSpPr>
          <p:cNvPr id="9" name="Text 7"/>
          <p:cNvSpPr txBox="1"/>
          <p:nvPr/>
        </p:nvSpPr>
        <p:spPr>
          <a:xfrm>
            <a:off x="548640" y="16093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原因</a:t>
            </a:r>
            <a:endParaRPr lang="en-US" sz="850" dirty="0"/>
          </a:p>
        </p:txBody>
      </p:sp>
      <p:sp>
        <p:nvSpPr>
          <p:cNvPr id="10" name="Text 8"/>
          <p:cNvSpPr txBox="1"/>
          <p:nvPr/>
        </p:nvSpPr>
        <p:spPr>
          <a:xfrm>
            <a:off x="548640" y="1810512"/>
            <a:ext cx="8046720" cy="594360"/>
          </a:xfrm>
          <a:prstGeom prst="rect">
            <a:avLst/>
          </a:prstGeom>
          <a:noFill/>
          <a:ln/>
        </p:spPr>
        <p:txBody>
          <a:bodyPr wrap="square" lIns="0" tIns="0" rIns="0" bIns="0" rtlCol="0" anchor="t"/>
          <a:lstStyle/>
          <a:p>
            <a:pPr indent="0" marL="0">
              <a:buNone/>
            </a:pPr>
            <a:r>
              <a:rPr lang="en-US" sz="850" dirty="0">
                <a:solidFill>
                  <a:srgbClr val="222222"/>
                </a:solidFill>
              </a:rPr>
              <a:t>#10 開示が必要と認識していたが今回のタイミングで漏れた。 #12 e-tax上は受付完了に見え、毎月2本あるべき出金記録が1本しかないことに経理も気付かず税務署の指摘まで発見できず。 #24 広告運用の内製化で取引先がMeta社直接になった際、税区分の見直しをしなかった。</a:t>
            </a:r>
            <a:endParaRPr lang="en-US" sz="850" dirty="0"/>
          </a:p>
        </p:txBody>
      </p:sp>
      <p:sp>
        <p:nvSpPr>
          <p:cNvPr id="11" name="Shape 9"/>
          <p:cNvSpPr/>
          <p:nvPr/>
        </p:nvSpPr>
        <p:spPr>
          <a:xfrm>
            <a:off x="457200" y="2487168"/>
            <a:ext cx="8229600" cy="868680"/>
          </a:xfrm>
          <a:prstGeom prst="rect">
            <a:avLst/>
          </a:prstGeom>
          <a:solidFill>
            <a:srgbClr val="F4F4F4"/>
          </a:solidFill>
          <a:ln w="12700">
            <a:solidFill>
              <a:srgbClr val="F4F4F4"/>
            </a:solidFill>
            <a:prstDash val="solid"/>
          </a:ln>
        </p:spPr>
      </p:sp>
      <p:sp>
        <p:nvSpPr>
          <p:cNvPr id="12" name="Text 10"/>
          <p:cNvSpPr txBox="1"/>
          <p:nvPr/>
        </p:nvSpPr>
        <p:spPr>
          <a:xfrm>
            <a:off x="548640" y="25237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対策案（恒久対応）</a:t>
            </a:r>
            <a:endParaRPr lang="en-US" sz="850" dirty="0"/>
          </a:p>
        </p:txBody>
      </p:sp>
      <p:sp>
        <p:nvSpPr>
          <p:cNvPr id="13" name="Text 11"/>
          <p:cNvSpPr txBox="1"/>
          <p:nvPr/>
        </p:nvSpPr>
        <p:spPr>
          <a:xfrm>
            <a:off x="548640" y="2724912"/>
            <a:ext cx="8046720" cy="594360"/>
          </a:xfrm>
          <a:prstGeom prst="rect">
            <a:avLst/>
          </a:prstGeom>
          <a:noFill/>
          <a:ln/>
        </p:spPr>
        <p:txBody>
          <a:bodyPr wrap="square" lIns="0" tIns="0" rIns="0" bIns="0" rtlCol="0" anchor="t"/>
          <a:lstStyle/>
          <a:p>
            <a:pPr indent="0" marL="0">
              <a:buNone/>
            </a:pPr>
            <a:r>
              <a:rPr lang="en-US" sz="850" dirty="0">
                <a:solidFill>
                  <a:srgbClr val="222222"/>
                </a:solidFill>
              </a:rPr>
              <a:t>#10 取締役会2営業日前に確認時間をスケジュール、生成AIで適時開示要否を確認（承認2025/8/14・完了日なし）。 #12 恒久対応策・承認・期限すべて空欄。 #24 請求書AIチェックに税区分とインボイス整合性の確認を追加（承認2026/7/22・完了予定7/31・完了日なし）。</a:t>
            </a:r>
            <a:endParaRPr lang="en-US" sz="850" dirty="0"/>
          </a:p>
        </p:txBody>
      </p:sp>
      <p:sp>
        <p:nvSpPr>
          <p:cNvPr id="14" name="Shape 12"/>
          <p:cNvSpPr/>
          <p:nvPr/>
        </p:nvSpPr>
        <p:spPr>
          <a:xfrm>
            <a:off x="457200" y="3401568"/>
            <a:ext cx="8229600" cy="1097280"/>
          </a:xfrm>
          <a:prstGeom prst="rect">
            <a:avLst/>
          </a:prstGeom>
          <a:solidFill>
            <a:srgbClr val="F4F4F4"/>
          </a:solidFill>
          <a:ln w="12700">
            <a:solidFill>
              <a:srgbClr val="F4F4F4"/>
            </a:solidFill>
            <a:prstDash val="solid"/>
          </a:ln>
        </p:spPr>
      </p:sp>
      <p:sp>
        <p:nvSpPr>
          <p:cNvPr id="15" name="Text 13"/>
          <p:cNvSpPr txBox="1"/>
          <p:nvPr/>
        </p:nvSpPr>
        <p:spPr>
          <a:xfrm>
            <a:off x="548640" y="34381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実施確認の方法／状況</a:t>
            </a:r>
            <a:endParaRPr lang="en-US" sz="850" dirty="0"/>
          </a:p>
        </p:txBody>
      </p:sp>
      <p:sp>
        <p:nvSpPr>
          <p:cNvPr id="16" name="Text 14"/>
          <p:cNvSpPr txBox="1"/>
          <p:nvPr/>
        </p:nvSpPr>
        <p:spPr>
          <a:xfrm>
            <a:off x="548640" y="3639312"/>
            <a:ext cx="8046720" cy="822960"/>
          </a:xfrm>
          <a:prstGeom prst="rect">
            <a:avLst/>
          </a:prstGeom>
          <a:noFill/>
          <a:ln/>
        </p:spPr>
        <p:txBody>
          <a:bodyPr wrap="square" lIns="0" tIns="0" rIns="0" bIns="0" rtlCol="0" anchor="t"/>
          <a:lstStyle/>
          <a:p>
            <a:pPr indent="0" marL="0">
              <a:buNone/>
            </a:pPr>
            <a:r>
              <a:rPr lang="en-US" sz="850" dirty="0">
                <a:solidFill>
                  <a:srgbClr val="222222"/>
                </a:solidFill>
              </a:rPr>
              <a:t>・取締役会前の開示確認のカレンダー設定と直近の確認記録。#24のAIチェック項目の実装（完了予定を3か月超過）</a:t>
            </a:r>
            <a:endParaRPr lang="en-US" sz="850" dirty="0"/>
          </a:p>
          <a:p>
            <a:pPr indent="0" marL="0">
              <a:buNone/>
            </a:pPr>
            <a:r>
              <a:rPr lang="en-US" sz="850" dirty="0">
                <a:solidFill>
                  <a:srgbClr val="222222"/>
                </a:solidFill>
              </a:rPr>
              <a:t>・#12は恒久対応策なし。e-tax申告後に出金記録を照合する運用があるか</a:t>
            </a:r>
            <a:endParaRPr lang="en-US" sz="850" dirty="0"/>
          </a:p>
          <a:p>
            <a:pPr indent="0" marL="0">
              <a:buNone/>
            </a:pPr>
            <a:r>
              <a:rPr lang="en-US" sz="850" dirty="0">
                <a:solidFill>
                  <a:srgbClr val="222222"/>
                </a:solidFill>
              </a:rPr>
              <a:t>・取引形態変更時に税務上の取扱いを再確認するルールが設けられたか（ADO②No.18 会計方針）</a:t>
            </a:r>
            <a:endParaRPr lang="en-US" sz="850" dirty="0"/>
          </a:p>
        </p:txBody>
      </p:sp>
      <p:sp>
        <p:nvSpPr>
          <p:cNvPr id="17" name="Text 15"/>
          <p:cNvSpPr txBox="1"/>
          <p:nvPr/>
        </p:nvSpPr>
        <p:spPr>
          <a:xfrm>
            <a:off x="457200" y="4544568"/>
            <a:ext cx="8229600" cy="228600"/>
          </a:xfrm>
          <a:prstGeom prst="rect">
            <a:avLst/>
          </a:prstGeom>
          <a:noFill/>
          <a:ln/>
        </p:spPr>
        <p:txBody>
          <a:bodyPr wrap="square" lIns="0" tIns="0" rIns="0" bIns="0" rtlCol="0" anchor="ctr"/>
          <a:lstStyle/>
          <a:p>
            <a:pPr indent="0" marL="0">
              <a:buNone/>
            </a:pPr>
            <a:r>
              <a:rPr lang="en-US" sz="800" dirty="0">
                <a:solidFill>
                  <a:srgbClr val="616161"/>
                </a:solidFill>
              </a:rPr>
              <a:t>※ 1件でも影響が大きい領域。「恒久対応策なし」で放置されている#12のクローズ判断を確認</a:t>
            </a:r>
            <a:endParaRPr lang="en-US" sz="800" dirty="0"/>
          </a:p>
        </p:txBody>
      </p:sp>
      <p:sp>
        <p:nvSpPr>
          <p:cNvPr id="18"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indent="0" marL="0">
              <a:buNone/>
            </a:pP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CASE STUDY（レベル3）</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事例⑥：入退社・労務手続きの漏れ（対策はチェックリスト・WF・関数化）</a:t>
            </a:r>
            <a:endParaRPr lang="en-US" sz="1800" dirty="0"/>
          </a:p>
        </p:txBody>
      </p:sp>
      <p:sp>
        <p:nvSpPr>
          <p:cNvPr id="4" name="Text 2"/>
          <p:cNvSpPr txBox="1"/>
          <p:nvPr/>
        </p:nvSpPr>
        <p:spPr>
          <a:xfrm>
            <a:off x="457200" y="987552"/>
            <a:ext cx="6035040" cy="228600"/>
          </a:xfrm>
          <a:prstGeom prst="rect">
            <a:avLst/>
          </a:prstGeom>
          <a:noFill/>
          <a:ln/>
        </p:spPr>
        <p:txBody>
          <a:bodyPr wrap="square" lIns="0" tIns="0" rIns="0" bIns="0" rtlCol="0" anchor="ctr"/>
          <a:lstStyle/>
          <a:p>
            <a:pPr indent="0" marL="0">
              <a:buNone/>
            </a:pPr>
            <a:r>
              <a:rPr lang="en-US" sz="900" dirty="0">
                <a:solidFill>
                  <a:srgbClr val="616161"/>
                </a:solidFill>
              </a:rPr>
              <a:t>ADO / #11 2025/8/14（Lv3） ・ #26 2026/8/7（Lv2） ・ #28 2026/8/18（Lv1） ・ #32 2026/10/8（Lv1）</a:t>
            </a:r>
            <a:endParaRPr lang="en-US" sz="900" dirty="0"/>
          </a:p>
        </p:txBody>
      </p:sp>
      <p:sp>
        <p:nvSpPr>
          <p:cNvPr id="5" name="Shape 3"/>
          <p:cNvSpPr/>
          <p:nvPr/>
        </p:nvSpPr>
        <p:spPr>
          <a:xfrm>
            <a:off x="6583680" y="960120"/>
            <a:ext cx="2103120" cy="274320"/>
          </a:xfrm>
          <a:prstGeom prst="roundRect">
            <a:avLst>
              <a:gd name="adj" fmla="val 26667"/>
            </a:avLst>
          </a:prstGeom>
          <a:solidFill>
            <a:srgbClr val="388E3C"/>
          </a:solidFill>
          <a:ln w="12700">
            <a:solidFill>
              <a:srgbClr val="388E3C"/>
            </a:solidFill>
            <a:prstDash val="solid"/>
          </a:ln>
        </p:spPr>
      </p:sp>
      <p:sp>
        <p:nvSpPr>
          <p:cNvPr id="6" name="Text 4"/>
          <p:cNvSpPr txBox="1"/>
          <p:nvPr/>
        </p:nvSpPr>
        <p:spPr>
          <a:xfrm>
            <a:off x="6583680" y="960120"/>
            <a:ext cx="2103120" cy="274320"/>
          </a:xfrm>
          <a:prstGeom prst="rect">
            <a:avLst/>
          </a:prstGeom>
          <a:noFill/>
          <a:ln/>
        </p:spPr>
        <p:txBody>
          <a:bodyPr wrap="square" lIns="0" tIns="0" rIns="0" bIns="0" rtlCol="0" anchor="ctr"/>
          <a:lstStyle/>
          <a:p>
            <a:pPr algn="ctr" indent="0" marL="0">
              <a:buNone/>
            </a:pPr>
            <a:r>
              <a:rPr lang="en-US" sz="850" b="1" dirty="0">
                <a:solidFill>
                  <a:srgbClr val="FFFFFF"/>
                </a:solidFill>
              </a:rPr>
              <a:t>対応中（実装確認）</a:t>
            </a:r>
            <a:endParaRPr lang="en-US" sz="850" dirty="0"/>
          </a:p>
        </p:txBody>
      </p:sp>
      <p:sp>
        <p:nvSpPr>
          <p:cNvPr id="7" name="Text 5"/>
          <p:cNvSpPr txBox="1"/>
          <p:nvPr/>
        </p:nvSpPr>
        <p:spPr>
          <a:xfrm>
            <a:off x="457200" y="1243584"/>
            <a:ext cx="8229600" cy="274320"/>
          </a:xfrm>
          <a:prstGeom prst="rect">
            <a:avLst/>
          </a:prstGeom>
          <a:noFill/>
          <a:ln/>
        </p:spPr>
        <p:txBody>
          <a:bodyPr wrap="square" lIns="0" tIns="0" rIns="0" bIns="0" rtlCol="0" anchor="ctr"/>
          <a:lstStyle/>
          <a:p>
            <a:pPr indent="0" marL="0">
              <a:buNone/>
            </a:pPr>
            <a:r>
              <a:rPr lang="en-US" sz="950" b="1" dirty="0">
                <a:solidFill>
                  <a:srgbClr val="B71C1C"/>
                </a:solidFill>
              </a:rPr>
              <a:t>影響範囲：</a:t>
            </a:r>
            <a:pPr indent="0" marL="0">
              <a:buNone/>
            </a:pPr>
            <a:r>
              <a:rPr lang="en-US" sz="950" dirty="0">
                <a:solidFill>
                  <a:srgbClr val="222222"/>
                </a:solidFill>
              </a:rPr>
              <a:t>#11 インターンの契約更新漏れ ／ #26 住民税異動届の提出先誤り（本人の納付額が増加） ／ #28 インターンの社会保険加入漏れ ／ #32 非正規8名に有給を重複付与</a:t>
            </a:r>
            <a:endParaRPr lang="en-US" sz="950" dirty="0"/>
          </a:p>
        </p:txBody>
      </p:sp>
      <p:sp>
        <p:nvSpPr>
          <p:cNvPr id="8" name="Shape 6"/>
          <p:cNvSpPr/>
          <p:nvPr/>
        </p:nvSpPr>
        <p:spPr>
          <a:xfrm>
            <a:off x="457200" y="1572768"/>
            <a:ext cx="8229600" cy="868680"/>
          </a:xfrm>
          <a:prstGeom prst="rect">
            <a:avLst/>
          </a:prstGeom>
          <a:solidFill>
            <a:srgbClr val="F4F4F4"/>
          </a:solidFill>
          <a:ln w="12700">
            <a:solidFill>
              <a:srgbClr val="F4F4F4"/>
            </a:solidFill>
            <a:prstDash val="solid"/>
          </a:ln>
        </p:spPr>
      </p:sp>
      <p:sp>
        <p:nvSpPr>
          <p:cNvPr id="9" name="Text 7"/>
          <p:cNvSpPr txBox="1"/>
          <p:nvPr/>
        </p:nvSpPr>
        <p:spPr>
          <a:xfrm>
            <a:off x="548640" y="16093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原因</a:t>
            </a:r>
            <a:endParaRPr lang="en-US" sz="850" dirty="0"/>
          </a:p>
        </p:txBody>
      </p:sp>
      <p:sp>
        <p:nvSpPr>
          <p:cNvPr id="10" name="Text 8"/>
          <p:cNvSpPr txBox="1"/>
          <p:nvPr/>
        </p:nvSpPr>
        <p:spPr>
          <a:xfrm>
            <a:off x="548640" y="1810512"/>
            <a:ext cx="8046720" cy="594360"/>
          </a:xfrm>
          <a:prstGeom prst="rect">
            <a:avLst/>
          </a:prstGeom>
          <a:noFill/>
          <a:ln/>
        </p:spPr>
        <p:txBody>
          <a:bodyPr wrap="square" lIns="0" tIns="0" rIns="0" bIns="0" rtlCol="0" anchor="t"/>
          <a:lstStyle/>
          <a:p>
            <a:pPr indent="0" marL="0">
              <a:buNone/>
            </a:pPr>
            <a:r>
              <a:rPr lang="en-US" sz="850" dirty="0">
                <a:solidFill>
                  <a:srgbClr val="222222"/>
                </a:solidFill>
              </a:rPr>
              <a:t>契約社員・インターンの管理台帳の更新漏れ（#11）、1/1時点住所の自治体に出す認識がなかった（#26）、「インターン＝学生」の思い込みと確認フローの欠如（#28）、CSV再登録時の確認不足（#32）。いずれも手順の「抜け」。</a:t>
            </a:r>
            <a:endParaRPr lang="en-US" sz="850" dirty="0"/>
          </a:p>
        </p:txBody>
      </p:sp>
      <p:sp>
        <p:nvSpPr>
          <p:cNvPr id="11" name="Shape 9"/>
          <p:cNvSpPr/>
          <p:nvPr/>
        </p:nvSpPr>
        <p:spPr>
          <a:xfrm>
            <a:off x="457200" y="2487168"/>
            <a:ext cx="8229600" cy="868680"/>
          </a:xfrm>
          <a:prstGeom prst="rect">
            <a:avLst/>
          </a:prstGeom>
          <a:solidFill>
            <a:srgbClr val="F4F4F4"/>
          </a:solidFill>
          <a:ln w="12700">
            <a:solidFill>
              <a:srgbClr val="F4F4F4"/>
            </a:solidFill>
            <a:prstDash val="solid"/>
          </a:ln>
        </p:spPr>
      </p:sp>
      <p:sp>
        <p:nvSpPr>
          <p:cNvPr id="12" name="Text 10"/>
          <p:cNvSpPr txBox="1"/>
          <p:nvPr/>
        </p:nvSpPr>
        <p:spPr>
          <a:xfrm>
            <a:off x="548640" y="25237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対策案（恒久対応）</a:t>
            </a:r>
            <a:endParaRPr lang="en-US" sz="850" dirty="0"/>
          </a:p>
        </p:txBody>
      </p:sp>
      <p:sp>
        <p:nvSpPr>
          <p:cNvPr id="13" name="Text 11"/>
          <p:cNvSpPr txBox="1"/>
          <p:nvPr/>
        </p:nvSpPr>
        <p:spPr>
          <a:xfrm>
            <a:off x="548640" y="2724912"/>
            <a:ext cx="8046720" cy="594360"/>
          </a:xfrm>
          <a:prstGeom prst="rect">
            <a:avLst/>
          </a:prstGeom>
          <a:noFill/>
          <a:ln/>
        </p:spPr>
        <p:txBody>
          <a:bodyPr wrap="square" lIns="0" tIns="0" rIns="0" bIns="0" rtlCol="0" anchor="t"/>
          <a:lstStyle/>
          <a:p>
            <a:pPr indent="0" marL="0">
              <a:buNone/>
            </a:pPr>
            <a:r>
              <a:rPr lang="en-US" sz="850" dirty="0">
                <a:solidFill>
                  <a:srgbClr val="222222"/>
                </a:solidFill>
              </a:rPr>
              <a:t>#11 入退社チェックリストに台帳転記をルール化／#26 退職WF・産育休WFに「1/1時点の住民票住所」欄を追加しチェックリストにも追加／#28 入退社スプシに社保加入要否を関数で自動表示／#32 一括登録後に雇用形態ごとの重複確認をマニュアルに追加。</a:t>
            </a:r>
            <a:endParaRPr lang="en-US" sz="850" dirty="0"/>
          </a:p>
        </p:txBody>
      </p:sp>
      <p:sp>
        <p:nvSpPr>
          <p:cNvPr id="14" name="Shape 12"/>
          <p:cNvSpPr/>
          <p:nvPr/>
        </p:nvSpPr>
        <p:spPr>
          <a:xfrm>
            <a:off x="457200" y="3401568"/>
            <a:ext cx="8229600" cy="1097280"/>
          </a:xfrm>
          <a:prstGeom prst="rect">
            <a:avLst/>
          </a:prstGeom>
          <a:solidFill>
            <a:srgbClr val="F4F4F4"/>
          </a:solidFill>
          <a:ln w="12700">
            <a:solidFill>
              <a:srgbClr val="F4F4F4"/>
            </a:solidFill>
            <a:prstDash val="solid"/>
          </a:ln>
        </p:spPr>
      </p:sp>
      <p:sp>
        <p:nvSpPr>
          <p:cNvPr id="15" name="Text 13"/>
          <p:cNvSpPr txBox="1"/>
          <p:nvPr/>
        </p:nvSpPr>
        <p:spPr>
          <a:xfrm>
            <a:off x="548640" y="3438144"/>
            <a:ext cx="1828800" cy="201168"/>
          </a:xfrm>
          <a:prstGeom prst="rect">
            <a:avLst/>
          </a:prstGeom>
          <a:noFill/>
          <a:ln/>
        </p:spPr>
        <p:txBody>
          <a:bodyPr wrap="square" lIns="0" tIns="0" rIns="0" bIns="0" rtlCol="0" anchor="ctr"/>
          <a:lstStyle/>
          <a:p>
            <a:pPr indent="0" marL="0">
              <a:buNone/>
            </a:pPr>
            <a:r>
              <a:rPr lang="en-US" sz="850" b="1" dirty="0">
                <a:solidFill>
                  <a:srgbClr val="B71C1C"/>
                </a:solidFill>
              </a:rPr>
              <a:t>実施確認の方法／状況</a:t>
            </a:r>
            <a:endParaRPr lang="en-US" sz="850" dirty="0"/>
          </a:p>
        </p:txBody>
      </p:sp>
      <p:sp>
        <p:nvSpPr>
          <p:cNvPr id="16" name="Text 14"/>
          <p:cNvSpPr txBox="1"/>
          <p:nvPr/>
        </p:nvSpPr>
        <p:spPr>
          <a:xfrm>
            <a:off x="548640" y="3639312"/>
            <a:ext cx="8046720" cy="822960"/>
          </a:xfrm>
          <a:prstGeom prst="rect">
            <a:avLst/>
          </a:prstGeom>
          <a:noFill/>
          <a:ln/>
        </p:spPr>
        <p:txBody>
          <a:bodyPr wrap="square" lIns="0" tIns="0" rIns="0" bIns="0" rtlCol="0" anchor="t"/>
          <a:lstStyle/>
          <a:p>
            <a:pPr indent="0" marL="0">
              <a:buNone/>
            </a:pPr>
            <a:r>
              <a:rPr lang="en-US" sz="850" dirty="0">
                <a:solidFill>
                  <a:srgbClr val="222222"/>
                </a:solidFill>
              </a:rPr>
              <a:t>・チェックリスト・WF・スプシの追加項目を現物で確認し、直近の入退社で記入済みのもの1件を見る</a:t>
            </a:r>
            <a:endParaRPr lang="en-US" sz="850" dirty="0"/>
          </a:p>
          <a:p>
            <a:pPr indent="0" marL="0">
              <a:buNone/>
            </a:pPr>
            <a:r>
              <a:rPr lang="en-US" sz="850" dirty="0">
                <a:solidFill>
                  <a:srgbClr val="222222"/>
                </a:solidFill>
              </a:rPr>
              <a:t>・#28は完了。#11は完了予定2025/8/20を過ぎて完了日なし。#26は承認日なし、#32は期限・完了日なし</a:t>
            </a:r>
            <a:endParaRPr lang="en-US" sz="850" dirty="0"/>
          </a:p>
          <a:p>
            <a:pPr indent="0" marL="0">
              <a:buNone/>
            </a:pPr>
            <a:r>
              <a:rPr lang="en-US" sz="850" dirty="0">
                <a:solidFill>
                  <a:srgbClr val="222222"/>
                </a:solidFill>
              </a:rPr>
              <a:t>・同じ「入退社」領域で2025〜2026に4件。チェックリストが1本に統合されているか</a:t>
            </a:r>
            <a:endParaRPr lang="en-US" sz="850" dirty="0"/>
          </a:p>
        </p:txBody>
      </p:sp>
      <p:sp>
        <p:nvSpPr>
          <p:cNvPr id="17" name="Text 15"/>
          <p:cNvSpPr txBox="1"/>
          <p:nvPr/>
        </p:nvSpPr>
        <p:spPr>
          <a:xfrm>
            <a:off x="457200" y="4544568"/>
            <a:ext cx="8229600" cy="228600"/>
          </a:xfrm>
          <a:prstGeom prst="rect">
            <a:avLst/>
          </a:prstGeom>
          <a:noFill/>
          <a:ln/>
        </p:spPr>
        <p:txBody>
          <a:bodyPr wrap="square" lIns="0" tIns="0" rIns="0" bIns="0" rtlCol="0" anchor="ctr"/>
          <a:lstStyle/>
          <a:p>
            <a:pPr indent="0" marL="0">
              <a:buNone/>
            </a:pPr>
            <a:r>
              <a:rPr lang="en-US" sz="800" dirty="0">
                <a:solidFill>
                  <a:srgbClr val="616161"/>
                </a:solidFill>
              </a:rPr>
              <a:t>※ 対策の形は良い（人の注意に頼らない）。「作った」で止まらず「使われている」まで確認する</a:t>
            </a:r>
            <a:endParaRPr lang="en-US" sz="800" dirty="0"/>
          </a:p>
        </p:txBody>
      </p:sp>
      <p:sp>
        <p:nvSpPr>
          <p:cNvPr id="18"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indent="0" marL="0">
              <a:buNone/>
            </a:pP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METHODOLOGY</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監査での確認アプローチ</a:t>
            </a:r>
            <a:endParaRPr lang="en-US" sz="1800" dirty="0"/>
          </a:p>
        </p:txBody>
      </p:sp>
      <p:sp>
        <p:nvSpPr>
          <p:cNvPr id="4"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222"/>
                </a:solidFill>
              </a:rPr>
              <a:t>① 支払い統制：AIチェック導入後も再発。「検出→判断→承認」の記録を現物で確認する</a:t>
            </a:r>
            <a:endParaRPr lang="en-US" sz="1100" dirty="0"/>
          </a:p>
          <a:p>
            <a:pPr lvl="1" marL="685800" indent="-342900">
              <a:spcAft>
                <a:spcPts val="200"/>
              </a:spcAft>
              <a:buSzPct val="100000"/>
              <a:buChar char="・"/>
            </a:pPr>
            <a:r>
              <a:rPr lang="en-US" sz="1000" dirty="0">
                <a:solidFill>
                  <a:srgbClr val="222222"/>
                </a:solidFill>
              </a:rPr>
              <a:t>事例①。検出結果を人が見逃した#30が示すとおり、ツールの有無ではなく判断の記録と承認が論点</a:t>
            </a:r>
            <a:endParaRPr lang="en-US" sz="1100" dirty="0"/>
          </a:p>
          <a:p>
            <a:pPr marL="342900" indent="-342900">
              <a:spcAft>
                <a:spcPts val="400"/>
              </a:spcAft>
              <a:buSzPct val="100000"/>
              <a:buChar char="■"/>
            </a:pPr>
            <a:r>
              <a:rPr lang="en-US" sz="1100" dirty="0">
                <a:solidFill>
                  <a:srgbClr val="222222"/>
                </a:solidFill>
              </a:rPr>
              <a:t>② 資金繰り・財務制限条項：上場会社として取締役会・監査役への報告まで確認する</a:t>
            </a:r>
            <a:endParaRPr lang="en-US" sz="1100" dirty="0"/>
          </a:p>
          <a:p>
            <a:pPr lvl="1" marL="685800" indent="-342900">
              <a:spcAft>
                <a:spcPts val="200"/>
              </a:spcAft>
              <a:buSzPct val="100000"/>
              <a:buChar char="・"/>
            </a:pPr>
            <a:r>
              <a:rPr lang="en-US" sz="1000" dirty="0">
                <a:solidFill>
                  <a:srgbClr val="222222"/>
                </a:solidFill>
              </a:rPr>
              <a:t>事例②。2023→2024の再発と2026の遵守事項違反。ADO②No.15・17の自己評価と突合</a:t>
            </a:r>
            <a:endParaRPr lang="en-US" sz="1100" dirty="0"/>
          </a:p>
          <a:p>
            <a:pPr marL="342900" indent="-342900">
              <a:spcAft>
                <a:spcPts val="400"/>
              </a:spcAft>
              <a:buSzPct val="100000"/>
              <a:buChar char="■"/>
            </a:pPr>
            <a:r>
              <a:rPr lang="en-US" sz="1100" dirty="0">
                <a:solidFill>
                  <a:srgbClr val="222222"/>
                </a:solidFill>
              </a:rPr>
              <a:t>③ 全社に求めるルールを自部門が守れているかを確認する（事後稟議・契約更新・個人情報）</a:t>
            </a:r>
            <a:endParaRPr lang="en-US" sz="1100" dirty="0"/>
          </a:p>
          <a:p>
            <a:pPr lvl="1" marL="685800" indent="-342900">
              <a:spcAft>
                <a:spcPts val="200"/>
              </a:spcAft>
              <a:buSzPct val="100000"/>
              <a:buChar char="・"/>
            </a:pPr>
            <a:r>
              <a:rPr lang="en-US" sz="1000" dirty="0">
                <a:solidFill>
                  <a:srgbClr val="222222"/>
                </a:solidFill>
              </a:rPr>
              <a:t>事例③。ADO②No.9・14・28の「問題なし」と台帳の実態の乖離</a:t>
            </a:r>
            <a:endParaRPr lang="en-US" sz="1100" dirty="0"/>
          </a:p>
          <a:p>
            <a:pPr marL="342900" indent="-342900">
              <a:spcAft>
                <a:spcPts val="400"/>
              </a:spcAft>
              <a:buSzPct val="100000"/>
              <a:buChar char="■"/>
            </a:pPr>
            <a:r>
              <a:rPr lang="en-US" sz="1100" dirty="0">
                <a:solidFill>
                  <a:srgbClr val="222222"/>
                </a:solidFill>
              </a:rPr>
              <a:t>④ 記録の質：有効性欄が「見込み」で終わっていないか、完了日37%・役員会確認0件のクローズ運用</a:t>
            </a:r>
            <a:endParaRPr lang="en-US" sz="1100" dirty="0"/>
          </a:p>
          <a:p>
            <a:pPr lvl="1" marL="685800" indent="-342900">
              <a:spcAft>
                <a:spcPts val="200"/>
              </a:spcAft>
              <a:buSzPct val="100000"/>
              <a:buChar char="・"/>
            </a:pPr>
            <a:r>
              <a:rPr lang="en-US" sz="1000" dirty="0">
                <a:solidFill>
                  <a:srgbClr val="222222"/>
                </a:solidFill>
              </a:rPr>
              <a:t>事例④⑤⑥。期限超過7件・承認日なし5件のクローズ判断</a:t>
            </a:r>
            <a:endParaRPr lang="en-US" sz="1100" dirty="0"/>
          </a:p>
          <a:p>
            <a:pPr marL="342900" indent="-342900">
              <a:spcAft>
                <a:spcPts val="400"/>
              </a:spcAft>
              <a:buSzPct val="100000"/>
              <a:buChar char="■"/>
            </a:pPr>
            <a:r>
              <a:rPr lang="en-US" sz="1100" dirty="0">
                <a:solidFill>
                  <a:srgbClr val="222222"/>
                </a:solidFill>
              </a:rPr>
              <a:t>⑤ 事務局機能：全社の完了確認（事務局）と台帳入力統制の導入状況を確認する</a:t>
            </a:r>
            <a:endParaRPr lang="en-US" sz="1100" dirty="0"/>
          </a:p>
          <a:p>
            <a:pPr lvl="1" marL="685800" indent="-342900">
              <a:spcAft>
                <a:spcPts val="200"/>
              </a:spcAft>
              <a:buSzPct val="100000"/>
              <a:buChar char="・"/>
            </a:pPr>
            <a:r>
              <a:rPr lang="en-US" sz="1000" dirty="0">
                <a:solidFill>
                  <a:srgbClr val="222222"/>
                </a:solidFill>
              </a:rPr>
              <a:t>GRG・SCMG監査で提言した「承認日必須化」「有効性の選択式化」「事務局の完了確認」の進捗。ADO②「（前回）監査結果」列が2023年のまま</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RECOMMENDATION</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組織課題への提言</a:t>
            </a:r>
            <a:endParaRPr lang="en-US" sz="1800" dirty="0"/>
          </a:p>
        </p:txBody>
      </p:sp>
      <p:sp>
        <p:nvSpPr>
          <p:cNvPr id="4"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222"/>
                </a:solidFill>
              </a:rPr>
              <a:t>支払い統制は「人の確認の積み増し」から「検出結果の判断記録」へ</a:t>
            </a:r>
            <a:endParaRPr lang="en-US" sz="1100" dirty="0"/>
          </a:p>
          <a:p>
            <a:pPr lvl="1" marL="685800" indent="-342900">
              <a:spcAft>
                <a:spcPts val="200"/>
              </a:spcAft>
              <a:buSzPct val="100000"/>
              <a:buChar char="・"/>
            </a:pPr>
            <a:r>
              <a:rPr lang="en-US" sz="1000" dirty="0">
                <a:solidFill>
                  <a:srgbClr val="222222"/>
                </a:solidFill>
              </a:rPr>
              <a:t>AIチェック・自動検知の検出を承認者が判断した記録を残し、月中の資産照合で過重払いを検知する。2026年の4件・約770万円は同じ構図</a:t>
            </a:r>
            <a:endParaRPr lang="en-US" sz="1100" dirty="0"/>
          </a:p>
          <a:p>
            <a:pPr marL="342900" indent="-342900">
              <a:spcAft>
                <a:spcPts val="400"/>
              </a:spcAft>
              <a:buSzPct val="100000"/>
              <a:buChar char="■"/>
            </a:pPr>
            <a:r>
              <a:rPr lang="en-US" sz="1100" dirty="0">
                <a:solidFill>
                  <a:srgbClr val="222222"/>
                </a:solidFill>
              </a:rPr>
              <a:t>財務制限条項を一覧で管理し、資金繰り確認と取締役会報告に組み込む</a:t>
            </a:r>
            <a:endParaRPr lang="en-US" sz="1100" dirty="0"/>
          </a:p>
          <a:p>
            <a:pPr lvl="1" marL="685800" indent="-342900">
              <a:spcAft>
                <a:spcPts val="200"/>
              </a:spcAft>
              <a:buSzPct val="100000"/>
              <a:buChar char="・"/>
            </a:pPr>
            <a:r>
              <a:rPr lang="en-US" sz="1000" dirty="0">
                <a:solidFill>
                  <a:srgbClr val="222222"/>
                </a:solidFill>
              </a:rPr>
              <a:t>遵守事項違反は返済請求リスク。開示要否の検討も含めてガバナンス事項として扱う</a:t>
            </a:r>
            <a:endParaRPr lang="en-US" sz="1100" dirty="0"/>
          </a:p>
          <a:p>
            <a:pPr marL="342900" indent="-342900">
              <a:spcAft>
                <a:spcPts val="400"/>
              </a:spcAft>
              <a:buSzPct val="100000"/>
              <a:buChar char="■"/>
            </a:pPr>
            <a:r>
              <a:rPr lang="en-US" sz="1100" dirty="0">
                <a:solidFill>
                  <a:srgbClr val="222222"/>
                </a:solidFill>
              </a:rPr>
              <a:t>事後稟議・契約更新漏れの全社件数を事務局が集計し、R&amp;C委員会等で定点報告する</a:t>
            </a:r>
            <a:endParaRPr lang="en-US" sz="1100" dirty="0"/>
          </a:p>
          <a:p>
            <a:pPr lvl="1" marL="685800" indent="-342900">
              <a:spcAft>
                <a:spcPts val="200"/>
              </a:spcAft>
              <a:buSzPct val="100000"/>
              <a:buChar char="・"/>
            </a:pPr>
            <a:r>
              <a:rPr lang="en-US" sz="1000" dirty="0">
                <a:solidFill>
                  <a:srgbClr val="222222"/>
                </a:solidFill>
              </a:rPr>
              <a:t>GRG・SCMG・ADOの3部門すべてで発生。部門単位の注意喚起では止まらない</a:t>
            </a:r>
            <a:endParaRPr lang="en-US" sz="1100" dirty="0"/>
          </a:p>
          <a:p>
            <a:pPr marL="342900" indent="-342900">
              <a:spcAft>
                <a:spcPts val="400"/>
              </a:spcAft>
              <a:buSzPct val="100000"/>
              <a:buChar char="■"/>
            </a:pPr>
            <a:r>
              <a:rPr lang="en-US" sz="1100" dirty="0">
                <a:solidFill>
                  <a:srgbClr val="222222"/>
                </a:solidFill>
              </a:rPr>
              <a:t>「有効性」は完了から一定期間後に再発有無を確認して記入する運用に（事務局として全社ルール化）</a:t>
            </a:r>
            <a:endParaRPr lang="en-US" sz="1100" dirty="0"/>
          </a:p>
          <a:p>
            <a:pPr lvl="1" marL="685800" indent="-342900">
              <a:spcAft>
                <a:spcPts val="200"/>
              </a:spcAft>
              <a:buSzPct val="100000"/>
              <a:buChar char="・"/>
            </a:pPr>
            <a:r>
              <a:rPr lang="en-US" sz="1000" dirty="0">
                <a:solidFill>
                  <a:srgbClr val="222222"/>
                </a:solidFill>
              </a:rPr>
              <a:t>現状は決定時の見込みの記述。レベル3の社長承認（役員会確認）の運用も再開する</a:t>
            </a:r>
            <a:endParaRPr lang="en-US" sz="1100" dirty="0"/>
          </a:p>
          <a:p>
            <a:pPr marL="342900" indent="-342900">
              <a:spcAft>
                <a:spcPts val="400"/>
              </a:spcAft>
              <a:buSzPct val="100000"/>
              <a:buChar char="■"/>
            </a:pPr>
            <a:r>
              <a:rPr lang="en-US" sz="1100" dirty="0">
                <a:solidFill>
                  <a:srgbClr val="222222"/>
                </a:solidFill>
              </a:rPr>
              <a:t>チェックリスト・WF・関数化された対策は「使われた記録」までセットで台帳に残す</a:t>
            </a:r>
            <a:endParaRPr lang="en-US" sz="1100" dirty="0"/>
          </a:p>
          <a:p>
            <a:pPr lvl="1" marL="685800" indent="-342900">
              <a:spcAft>
                <a:spcPts val="200"/>
              </a:spcAft>
              <a:buSzPct val="100000"/>
              <a:buChar char="・"/>
            </a:pPr>
            <a:r>
              <a:rPr lang="en-US" sz="1000" dirty="0">
                <a:solidFill>
                  <a:srgbClr val="222222"/>
                </a:solidFill>
              </a:rPr>
              <a:t>事例④⑥のように対策の形は良い。完了日と証憑リンクを台帳に残せば監査もクローズも速くなる</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body" hasCustomPrompt="1"/>
          </p:nvPr>
        </p:nvSpPr>
        <p:spPr>
          <a:xfrm>
            <a:off x="457200" y="256032"/>
            <a:ext cx="7315200" cy="228600"/>
          </a:xfrm>
          <a:prstGeom prst="rect">
            <a:avLst/>
          </a:prstGeom>
          <a:noFill/>
          <a:ln/>
        </p:spPr>
        <p:txBody>
          <a:bodyPr wrap="square" lIns="0" tIns="0" rIns="0" bIns="0" rtlCol="0"/>
          <a:lstStyle/>
          <a:p>
            <a:pPr indent="0" marL="0">
              <a:buNone/>
            </a:pPr>
            <a:r>
              <a:rPr lang="en-US" sz="800" b="1" spc="200" kern="0" dirty="0">
                <a:solidFill>
                  <a:srgbClr val="616161"/>
                </a:solidFill>
              </a:rPr>
              <a:t>NEXT STEPS</a:t>
            </a:r>
            <a:endParaRPr lang="en-US" sz="800" dirty="0"/>
          </a:p>
        </p:txBody>
      </p:sp>
      <p:sp>
        <p:nvSpPr>
          <p:cNvPr id="3" name="Text 2"/>
          <p:cNvSpPr/>
          <p:nvPr>
            <p:ph idx="103" type="title" hasCustomPrompt="1"/>
          </p:nvPr>
        </p:nvSpPr>
        <p:spPr>
          <a:xfrm>
            <a:off x="457200" y="457200"/>
            <a:ext cx="8229600" cy="457200"/>
          </a:xfrm>
          <a:prstGeom prst="rect">
            <a:avLst/>
          </a:prstGeom>
          <a:noFill/>
          <a:ln/>
        </p:spPr>
        <p:txBody>
          <a:bodyPr wrap="square" lIns="0" tIns="0" rIns="0" bIns="0" rtlCol="0" anchor="t"/>
          <a:lstStyle/>
          <a:p>
            <a:pPr algn="l" indent="0" marL="0">
              <a:buNone/>
            </a:pPr>
            <a:r>
              <a:rPr lang="en-US" sz="1800" b="1" dirty="0">
                <a:solidFill>
                  <a:srgbClr val="B71C1C"/>
                </a:solidFill>
              </a:rPr>
              <a:t>まとめ・次のアクション</a:t>
            </a:r>
            <a:endParaRPr lang="en-US" sz="1800" dirty="0"/>
          </a:p>
        </p:txBody>
      </p:sp>
      <p:sp>
        <p:nvSpPr>
          <p:cNvPr id="4" name="Text 2"/>
          <p:cNvSpPr/>
          <p:nvPr>
            <p:ph idx="104" type="body" hasCustomPrompt="1"/>
          </p:nvPr>
        </p:nvSpPr>
        <p:spPr>
          <a:xfrm>
            <a:off x="457200" y="1051560"/>
            <a:ext cx="8229600" cy="35661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222222"/>
                </a:solidFill>
              </a:rPr>
              <a:t>監査実施通知（●11月）に「事前依頼リスト」（Excel）を添付し、現物の準備を依頼する</a:t>
            </a:r>
            <a:endParaRPr lang="en-US" sz="1100" dirty="0"/>
          </a:p>
          <a:p>
            <a:pPr marL="342900" indent="-342900">
              <a:spcAft>
                <a:spcPts val="400"/>
              </a:spcAft>
              <a:buSzPct val="100000"/>
              <a:buChar char="■"/>
            </a:pPr>
            <a:r>
              <a:rPr lang="en-US" sz="1100" dirty="0">
                <a:solidFill>
                  <a:srgbClr val="222222"/>
                </a:solidFill>
              </a:rPr>
              <a:t>ヒアリング（★11月）：固定設問No.1〜22 ＋ ADO②（28項目） ＋ 6事例の実施状況確認（現物1点ずつ）。実施者は森本</a:t>
            </a:r>
            <a:endParaRPr lang="en-US" sz="1100" dirty="0"/>
          </a:p>
          <a:p>
            <a:pPr lvl="1" marL="685800" indent="-342900">
              <a:spcAft>
                <a:spcPts val="200"/>
              </a:spcAft>
              <a:buSzPct val="100000"/>
              <a:buChar char="・"/>
            </a:pPr>
            <a:r>
              <a:rPr lang="en-US" sz="1000" dirty="0">
                <a:solidFill>
                  <a:srgbClr val="B71C1C"/>
                </a:solidFill>
              </a:rPr>
              <a:t>倉石が起票者・担当者の案件（#2,3,10,12,16,25）は森本がレビューし、倉石は同席しない</a:t>
            </a:r>
            <a:endParaRPr lang="en-US" sz="1100" dirty="0"/>
          </a:p>
          <a:p>
            <a:pPr marL="342900" indent="-342900">
              <a:spcAft>
                <a:spcPts val="400"/>
              </a:spcAft>
              <a:buSzPct val="100000"/>
              <a:buChar char="■"/>
            </a:pPr>
            <a:r>
              <a:rPr lang="en-US" sz="1100" dirty="0">
                <a:solidFill>
                  <a:srgbClr val="222222"/>
                </a:solidFill>
              </a:rPr>
              <a:t>監査前の準備：ADO②タブの「（前回）監査結果」列を2024/11の結果に差し替える。前回△の2項目（規程管理・衛生委員会）のフォロー</a:t>
            </a:r>
            <a:endParaRPr lang="en-US" sz="1100" dirty="0"/>
          </a:p>
          <a:p>
            <a:pPr marL="342900" indent="-342900">
              <a:spcAft>
                <a:spcPts val="400"/>
              </a:spcAft>
              <a:buSzPct val="100000"/>
              <a:buChar char="■"/>
            </a:pPr>
            <a:r>
              <a:rPr lang="en-US" sz="1100" dirty="0">
                <a:solidFill>
                  <a:srgbClr val="222222"/>
                </a:solidFill>
              </a:rPr>
              <a:t>レベル3全件（24件）の記録状況を一覧で提示し、期限超過7件・承認日なし5件・対策未記載1件のクローズ判断を依頼</a:t>
            </a:r>
            <a:endParaRPr lang="en-US" sz="1100" dirty="0"/>
          </a:p>
          <a:p>
            <a:pPr marL="342900" indent="-342900">
              <a:spcAft>
                <a:spcPts val="400"/>
              </a:spcAft>
              <a:buSzPct val="100000"/>
              <a:buChar char="■"/>
            </a:pPr>
            <a:r>
              <a:rPr lang="en-US" sz="1100" dirty="0">
                <a:solidFill>
                  <a:srgbClr val="222222"/>
                </a:solidFill>
              </a:rPr>
              <a:t>報告書 → ◆改善指示書（12月） → △改善実施計画書（2027年1月） → ○改善状況確認書（3月）</a:t>
            </a:r>
            <a:endParaRPr lang="en-US" sz="1100" dirty="0"/>
          </a:p>
          <a:p>
            <a:pPr marL="342900" indent="-342900">
              <a:spcAft>
                <a:spcPts val="400"/>
              </a:spcAft>
              <a:buSzPct val="100000"/>
              <a:buChar char="■"/>
            </a:pPr>
            <a:r>
              <a:rPr lang="en-US" sz="1100" dirty="0">
                <a:solidFill>
                  <a:srgbClr val="222222"/>
                </a:solidFill>
              </a:rPr>
              <a:t>GRG・SCMG・ADOの3部門で共通する課題（事後稟議・台帳記録・有効性未評価）を全社提言としてまとめ、残り4部門（QAG・社長室・ACE・Mall）の監査に展開する</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0" y="2103120"/>
            <a:ext cx="9144000" cy="822960"/>
          </a:xfrm>
          <a:prstGeom prst="rect">
            <a:avLst/>
          </a:prstGeom>
          <a:noFill/>
          <a:ln/>
        </p:spPr>
        <p:txBody>
          <a:bodyPr wrap="square" lIns="0" tIns="0" rIns="0" bIns="0" rtlCol="0" anchor="ctr"/>
          <a:lstStyle/>
          <a:p>
            <a:pPr algn="ctr" indent="0" marL="0">
              <a:buNone/>
            </a:pPr>
            <a:r>
              <a:rPr lang="en-US" sz="2000" b="1" dirty="0">
                <a:solidFill>
                  <a:srgbClr val="FFFFFF"/>
                </a:solidFill>
              </a:rPr>
              <a:t>Special Thanks</a:t>
            </a:r>
            <a:endParaRPr lang="en-US" sz="2000" dirty="0"/>
          </a:p>
        </p:txBody>
      </p:sp>
      <p:sp>
        <p:nvSpPr>
          <p:cNvPr id="3" name="Text 1"/>
          <p:cNvSpPr/>
          <p:nvPr>
            <p:ph idx="102" type="body" hasCustomPrompt="1"/>
          </p:nvPr>
        </p:nvSpPr>
        <p:spPr>
          <a:xfrm>
            <a:off x="914400" y="3108960"/>
            <a:ext cx="7315200" cy="457200"/>
          </a:xfrm>
          <a:prstGeom prst="rect">
            <a:avLst/>
          </a:prstGeom>
          <a:noFill/>
          <a:ln/>
        </p:spPr>
        <p:txBody>
          <a:bodyPr wrap="square" lIns="0" tIns="0" rIns="0" bIns="0" rtlCol="0"/>
          <a:lstStyle/>
          <a:p>
            <a:pPr algn="ctr" indent="0" marL="0">
              <a:buNone/>
            </a:pPr>
            <a:r>
              <a:rPr lang="en-US" sz="1000" dirty="0">
                <a:solidFill>
                  <a:srgbClr val="616161"/>
                </a:solidFill>
              </a:rPr>
              <a:t>ご協力いただく経営管理室の皆さま、よろしくお願いいたします</a:t>
            </a:r>
            <a:endParaRPr lang="en-US" sz="1000" dirty="0"/>
          </a:p>
        </p:txBody>
      </p:sp>
    </p:spTree>
  </p:cSld>
  <p:clrMapOvr>
    <a:masterClrMapping/>
  </p:clrMapOvr>
</p:sld>
</file>

<file path=ppt/theme/theme1.xml><?xml version="1.0" encoding="utf-8"?>
<a:theme xmlns:a="http://schemas.openxmlformats.org/drawingml/2006/main" name="aC Audit">
  <a:themeElements>
    <a:clrScheme name="aC Audit">
      <a:dk1>
        <a:srgbClr val="222222"/>
      </a:dk1>
      <a:lt1>
        <a:srgbClr val="FFFFFF"/>
      </a:lt1>
      <a:dk2>
        <a:srgbClr val="B71C1C"/>
      </a:dk2>
      <a:lt2>
        <a:srgbClr val="F4F4F4"/>
      </a:lt2>
      <a:accent1>
        <a:srgbClr val="B71C1C"/>
      </a:accent1>
      <a:accent2>
        <a:srgbClr val="E57373"/>
      </a:accent2>
      <a:accent3>
        <a:srgbClr val="616161"/>
      </a:accent3>
      <a:accent4>
        <a:srgbClr val="FBC02D"/>
      </a:accent4>
      <a:accent5>
        <a:srgbClr val="388E3C"/>
      </a:accent5>
      <a:accent6>
        <a:srgbClr val="9E9E9E"/>
      </a:accent6>
      <a:hlink>
        <a:srgbClr val="B71C1C"/>
      </a:hlink>
      <a:folHlink>
        <a:srgbClr val="616161"/>
      </a:folHlink>
    </a:clrScheme>
    <a:fontScheme name="aC Audit">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内部監査：経営管理室（ADO）レベル3インシデントの恒久対応チェック（2024-2026年）</dc:title>
  <dc:subject>PptxGenJS Presentation</dc:subject>
  <dc:creator>内部監査担当</dc:creator>
  <cp:lastModifiedBy>内部監査担当</cp:lastModifiedBy>
  <cp:revision>1</cp:revision>
  <dcterms:created xsi:type="dcterms:W3CDTF">2026-10-28T09:41:35Z</dcterms:created>
  <dcterms:modified xsi:type="dcterms:W3CDTF">2026-10-28T09:41:35Z</dcterms:modified>
</cp:coreProperties>
</file>