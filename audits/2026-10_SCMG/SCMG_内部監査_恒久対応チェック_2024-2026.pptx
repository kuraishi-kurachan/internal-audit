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 id="{2d83be6c-f80d-cfdf-0d7b-7a7b4a684151}">
          <p14:sldIdLst>
            <p14:sldId id="256"/>
          </p14:sldIdLst>
        </p14:section>
        <p14:section name="アジェンダ" id="{47718b54-f6de-b065-caa3-bb5b4df5d997}">
          <p14:sldIdLst>
            <p14:sldId id="257"/>
          </p14:sldIdLst>
        </p14:section>
        <p14:section name="分析概要" id="{50131bf8-5204-11e4-dcbc-95eaf6dc9365}">
          <p14:sldIdLst>
            <p14:sldId id="258"/>
            <p14:sldId id="259"/>
            <p14:sldId id="260"/>
          </p14:sldIdLst>
        </p14:section>
        <p14:section name="事例ピックアップ" id="{ceac91b2-f788-8b4d-6d0a-71b10958816f}">
          <p14:sldIdLst>
            <p14:sldId id="261"/>
            <p14:sldId id="262"/>
            <p14:sldId id="263"/>
            <p14:sldId id="264"/>
            <p14:sldId id="265"/>
            <p14:sldId id="266"/>
            <p14:sldId id="267"/>
          </p14:sldIdLst>
        </p14:section>
        <p14:section name="まとめ" id="{9f8c3aad-0a55-2e49-5295-9852072cadbe}">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B71C1C"/>
          </a:solidFill>
          <a:ln/>
        </p:spPr>
      </p:sp>
      <p:sp>
        <p:nvSpPr>
          <p:cNvPr id="3" name="Text 1"/>
          <p:cNvSpPr/>
          <p:nvPr/>
        </p:nvSpPr>
        <p:spPr>
          <a:xfrm>
            <a:off x="7863840" y="4800600"/>
            <a:ext cx="1097280" cy="274320"/>
          </a:xfrm>
          <a:prstGeom prst="rect">
            <a:avLst/>
          </a:prstGeom>
          <a:noFill/>
          <a:ln/>
        </p:spPr>
        <p:txBody>
          <a:bodyPr wrap="square" lIns="0" tIns="0" rIns="0" bIns="0" rtlCol="0" anchor="ctr"/>
          <a:lstStyle/>
          <a:p>
            <a:pPr algn="r" indent="0" marL="0">
              <a:buNone/>
            </a:pPr>
            <a:r>
              <a:rPr lang="en-US" sz="800" dirty="0">
                <a:solidFill>
                  <a:srgbClr val="9E9E9E"/>
                </a:solidFill>
              </a:rPr>
              <a:t>airCloset</a:t>
            </a:r>
            <a:endParaRPr lang="en-US" sz="800" dirty="0"/>
          </a:p>
        </p:txBody>
      </p:sp>
      <p:sp>
        <p:nvSpPr>
          <p:cNvPr id="4" name="Text 2"/>
          <p:cNvSpPr/>
          <p:nvPr>
            <p:ph idx="102" type="body" hasCustomPrompt="1"/>
          </p:nvPr>
        </p:nvSpPr>
        <p:spPr>
          <a:xfrm>
            <a:off x="457200" y="256032"/>
            <a:ext cx="7315200" cy="228600"/>
          </a:xfrm>
          <a:prstGeom prst="rect">
            <a:avLst/>
          </a:prstGeom>
          <a:noFill/>
          <a:ln/>
        </p:spPr>
        <p:txBody>
          <a:bodyPr wrap="square" rtlCol="0"/>
          <a:lstStyle>
            <a:lvl1pPr indent="0" marL="0">
              <a:buNone/>
              <a:defRPr lang="en-US" sz="800" b="1" spc="200" kern="0" dirty="0">
                <a:solidFill>
                  <a:srgbClr val="616161"/>
                </a:solidFill>
              </a:defRPr>
            </a:lvl1pPr>
          </a:lstStyle>
          <a:p>
            <a:pPr indent="0" marL="0">
              <a:buNone/>
            </a:pPr>
            <a:endParaRPr lang="en-US" sz="800" dirty="0"/>
          </a:p>
        </p:txBody>
      </p:sp>
      <p:sp>
        <p:nvSpPr>
          <p:cNvPr id="5" name="Text 2"/>
          <p:cNvSpPr/>
          <p:nvPr>
            <p:ph idx="103" type="title" hasCustomPrompt="1"/>
          </p:nvPr>
        </p:nvSpPr>
        <p:spPr>
          <a:xfrm>
            <a:off x="457200" y="457200"/>
            <a:ext cx="8229600" cy="457200"/>
          </a:xfrm>
          <a:prstGeom prst="rect">
            <a:avLst/>
          </a:prstGeom>
          <a:noFill/>
          <a:ln/>
        </p:spPr>
        <p:txBody>
          <a:bodyPr wrap="square" rtlCol="0"/>
          <a:lstStyle>
            <a:lvl1pPr algn="l" indent="0" marL="0">
              <a:buNone/>
              <a:defRPr lang="en-US" sz="1800" b="1" dirty="0">
                <a:solidFill>
                  <a:srgbClr val="B71C1C"/>
                </a:solidFill>
              </a:defRPr>
            </a:lvl1pPr>
          </a:lstStyle>
          <a:p>
            <a:pPr algn="l" indent="0" marL="0">
              <a:buNone/>
            </a:pPr>
            <a:endParaRPr lang="en-US" sz="1800" dirty="0"/>
          </a:p>
        </p:txBody>
      </p:sp>
      <p:sp>
        <p:nvSpPr>
          <p:cNvPr id="6" name="Text 2"/>
          <p:cNvSpPr/>
          <p:nvPr>
            <p:ph idx="104" type="body" hasCustomPrompt="1"/>
          </p:nvPr>
        </p:nvSpPr>
        <p:spPr>
          <a:xfrm>
            <a:off x="457200" y="1051560"/>
            <a:ext cx="8229600" cy="3566160"/>
          </a:xfrm>
          <a:prstGeom prst="rect">
            <a:avLst/>
          </a:prstGeom>
          <a:noFill/>
          <a:ln/>
        </p:spPr>
        <p:txBody>
          <a:bodyPr wrap="square" rtlCol="0"/>
          <a:lstStyle>
            <a:lvl1pPr indent="0" marL="0">
              <a:buNone/>
              <a:defRPr lang="en-US" sz="1100" dirty="0">
                <a:solidFill>
                  <a:srgbClr val="222222"/>
                </a:solidFill>
              </a:defRPr>
            </a:lvl1pPr>
          </a:lstStyle>
          <a:p>
            <a:pPr indent="0" marL="0">
              <a:buNone/>
            </a:pP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PLI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B71C1C"/>
          </a:solidFill>
          <a:ln/>
        </p:spPr>
      </p:sp>
      <p:sp>
        <p:nvSpPr>
          <p:cNvPr id="3" name="Text 1"/>
          <p:cNvSpPr/>
          <p:nvPr/>
        </p:nvSpPr>
        <p:spPr>
          <a:xfrm>
            <a:off x="7863840" y="4800600"/>
            <a:ext cx="1097280" cy="274320"/>
          </a:xfrm>
          <a:prstGeom prst="rect">
            <a:avLst/>
          </a:prstGeom>
          <a:noFill/>
          <a:ln/>
        </p:spPr>
        <p:txBody>
          <a:bodyPr wrap="square" lIns="0" tIns="0" rIns="0" bIns="0" rtlCol="0" anchor="ctr"/>
          <a:lstStyle/>
          <a:p>
            <a:pPr algn="r" indent="0" marL="0">
              <a:buNone/>
            </a:pPr>
            <a:r>
              <a:rPr lang="en-US" sz="800" dirty="0">
                <a:solidFill>
                  <a:srgbClr val="9E9E9E"/>
                </a:solidFill>
              </a:rPr>
              <a:t>airCloset</a:t>
            </a:r>
            <a:endParaRPr lang="en-US" sz="800" dirty="0"/>
          </a:p>
        </p:txBody>
      </p:sp>
      <p:sp>
        <p:nvSpPr>
          <p:cNvPr id="4" name="Text 2"/>
          <p:cNvSpPr/>
          <p:nvPr>
            <p:ph idx="102" type="body" hasCustomPrompt="1"/>
          </p:nvPr>
        </p:nvSpPr>
        <p:spPr>
          <a:xfrm>
            <a:off x="457200" y="256032"/>
            <a:ext cx="7315200" cy="228600"/>
          </a:xfrm>
          <a:prstGeom prst="rect">
            <a:avLst/>
          </a:prstGeom>
          <a:noFill/>
          <a:ln/>
        </p:spPr>
        <p:txBody>
          <a:bodyPr wrap="square" rtlCol="0"/>
          <a:lstStyle>
            <a:lvl1pPr indent="0" marL="0">
              <a:buNone/>
              <a:defRPr lang="en-US" sz="800" b="1" spc="200" kern="0" dirty="0">
                <a:solidFill>
                  <a:srgbClr val="616161"/>
                </a:solidFill>
              </a:defRPr>
            </a:lvl1pPr>
          </a:lstStyle>
          <a:p>
            <a:pPr indent="0" marL="0">
              <a:buNone/>
            </a:pPr>
            <a:endParaRPr lang="en-US" sz="800" dirty="0"/>
          </a:p>
        </p:txBody>
      </p:sp>
      <p:sp>
        <p:nvSpPr>
          <p:cNvPr id="5" name="Text 2"/>
          <p:cNvSpPr/>
          <p:nvPr>
            <p:ph idx="103" type="title" hasCustomPrompt="1"/>
          </p:nvPr>
        </p:nvSpPr>
        <p:spPr>
          <a:xfrm>
            <a:off x="457200" y="457200"/>
            <a:ext cx="8229600" cy="457200"/>
          </a:xfrm>
          <a:prstGeom prst="rect">
            <a:avLst/>
          </a:prstGeom>
          <a:noFill/>
          <a:ln/>
        </p:spPr>
        <p:txBody>
          <a:bodyPr wrap="square" rtlCol="0"/>
          <a:lstStyle>
            <a:lvl1pPr algn="l" indent="0" marL="0">
              <a:buNone/>
              <a:defRPr lang="en-US" sz="1800" b="1" dirty="0">
                <a:solidFill>
                  <a:srgbClr val="B71C1C"/>
                </a:solidFill>
              </a:defRPr>
            </a:lvl1pPr>
          </a:lstStyle>
          <a:p>
            <a:pPr algn="l" indent="0" marL="0">
              <a:buNone/>
            </a:pPr>
            <a:endParaRPr lang="en-US" sz="1800" dirty="0"/>
          </a:p>
        </p:txBody>
      </p:sp>
      <p:sp>
        <p:nvSpPr>
          <p:cNvPr id="6" name="Text 2"/>
          <p:cNvSpPr/>
          <p:nvPr>
            <p:ph idx="104" type="body" hasCustomPrompt="1"/>
          </p:nvPr>
        </p:nvSpPr>
        <p:spPr>
          <a:xfrm>
            <a:off x="457200" y="1051560"/>
            <a:ext cx="5120640" cy="3566160"/>
          </a:xfrm>
          <a:prstGeom prst="rect">
            <a:avLst/>
          </a:prstGeom>
          <a:noFill/>
          <a:ln/>
        </p:spPr>
        <p:txBody>
          <a:bodyPr wrap="square" rtlCol="0"/>
          <a:lstStyle>
            <a:lvl1pPr indent="0" marL="0">
              <a:buNone/>
              <a:defRPr lang="en-US" sz="1100" dirty="0">
                <a:solidFill>
                  <a:srgbClr val="222222"/>
                </a:solidFill>
              </a:defRPr>
            </a:lvl1pPr>
          </a:lstStyle>
          <a:p>
            <a:pPr indent="0" marL="0">
              <a:buNone/>
            </a:pPr>
            <a:endParaRPr lang="en-US" sz="11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PLIT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B71C1C"/>
          </a:solidFill>
          <a:ln/>
        </p:spPr>
      </p:sp>
      <p:sp>
        <p:nvSpPr>
          <p:cNvPr id="3" name="Text 1"/>
          <p:cNvSpPr/>
          <p:nvPr/>
        </p:nvSpPr>
        <p:spPr>
          <a:xfrm>
            <a:off x="7863840" y="4800600"/>
            <a:ext cx="1097280" cy="274320"/>
          </a:xfrm>
          <a:prstGeom prst="rect">
            <a:avLst/>
          </a:prstGeom>
          <a:noFill/>
          <a:ln/>
        </p:spPr>
        <p:txBody>
          <a:bodyPr wrap="square" lIns="0" tIns="0" rIns="0" bIns="0" rtlCol="0" anchor="ctr"/>
          <a:lstStyle/>
          <a:p>
            <a:pPr algn="r" indent="0" marL="0">
              <a:buNone/>
            </a:pPr>
            <a:r>
              <a:rPr lang="en-US" sz="800" dirty="0">
                <a:solidFill>
                  <a:srgbClr val="9E9E9E"/>
                </a:solidFill>
              </a:rPr>
              <a:t>airCloset</a:t>
            </a:r>
            <a:endParaRPr lang="en-US" sz="800" dirty="0"/>
          </a:p>
        </p:txBody>
      </p:sp>
      <p:sp>
        <p:nvSpPr>
          <p:cNvPr id="4" name="Text 2"/>
          <p:cNvSpPr/>
          <p:nvPr>
            <p:ph idx="102" type="body" hasCustomPrompt="1"/>
          </p:nvPr>
        </p:nvSpPr>
        <p:spPr>
          <a:xfrm>
            <a:off x="457200" y="256032"/>
            <a:ext cx="7315200" cy="228600"/>
          </a:xfrm>
          <a:prstGeom prst="rect">
            <a:avLst/>
          </a:prstGeom>
          <a:noFill/>
          <a:ln/>
        </p:spPr>
        <p:txBody>
          <a:bodyPr wrap="square" rtlCol="0"/>
          <a:lstStyle>
            <a:lvl1pPr indent="0" marL="0">
              <a:buNone/>
              <a:defRPr lang="en-US" sz="800" b="1" spc="200" kern="0" dirty="0">
                <a:solidFill>
                  <a:srgbClr val="616161"/>
                </a:solidFill>
              </a:defRPr>
            </a:lvl1pPr>
          </a:lstStyle>
          <a:p>
            <a:pPr indent="0" marL="0">
              <a:buNone/>
            </a:pPr>
            <a:endParaRPr lang="en-US" sz="800" dirty="0"/>
          </a:p>
        </p:txBody>
      </p:sp>
      <p:sp>
        <p:nvSpPr>
          <p:cNvPr id="5" name="Text 2"/>
          <p:cNvSpPr/>
          <p:nvPr>
            <p:ph idx="103" type="title" hasCustomPrompt="1"/>
          </p:nvPr>
        </p:nvSpPr>
        <p:spPr>
          <a:xfrm>
            <a:off x="457200" y="457200"/>
            <a:ext cx="8229600" cy="457200"/>
          </a:xfrm>
          <a:prstGeom prst="rect">
            <a:avLst/>
          </a:prstGeom>
          <a:noFill/>
          <a:ln/>
        </p:spPr>
        <p:txBody>
          <a:bodyPr wrap="square" rtlCol="0"/>
          <a:lstStyle>
            <a:lvl1pPr algn="l" indent="0" marL="0">
              <a:buNone/>
              <a:defRPr lang="en-US" sz="1800" b="1" dirty="0">
                <a:solidFill>
                  <a:srgbClr val="B71C1C"/>
                </a:solidFill>
              </a:defRPr>
            </a:lvl1pPr>
          </a:lstStyle>
          <a:p>
            <a:pPr algn="l" indent="0" marL="0">
              <a:buNone/>
            </a:pPr>
            <a:endParaRPr lang="en-US" sz="1800" dirty="0"/>
          </a:p>
        </p:txBody>
      </p:sp>
      <p:sp>
        <p:nvSpPr>
          <p:cNvPr id="6" name="Text 2"/>
          <p:cNvSpPr/>
          <p:nvPr>
            <p:ph idx="104" type="body" hasCustomPrompt="1"/>
          </p:nvPr>
        </p:nvSpPr>
        <p:spPr>
          <a:xfrm>
            <a:off x="457200" y="1051560"/>
            <a:ext cx="4206240" cy="3566160"/>
          </a:xfrm>
          <a:prstGeom prst="rect">
            <a:avLst/>
          </a:prstGeom>
          <a:noFill/>
          <a:ln/>
        </p:spPr>
        <p:txBody>
          <a:bodyPr wrap="square" rtlCol="0"/>
          <a:lstStyle>
            <a:lvl1pPr indent="0" marL="0">
              <a:buNone/>
              <a:defRPr lang="en-US" sz="1100" dirty="0">
                <a:solidFill>
                  <a:srgbClr val="222222"/>
                </a:solidFill>
              </a:defRPr>
            </a:lvl1pPr>
          </a:lstStyle>
          <a:p>
            <a:pPr indent="0" marL="0">
              <a:buNone/>
            </a:pPr>
            <a:endParaRPr lang="en-US" sz="11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bg>
      <p:bgPr>
        <a:solidFill>
          <a:srgbClr val="B71C1C"/>
        </a:solidFill>
      </p:bgPr>
    </p:bg>
    <p:spTree>
      <p:nvGrpSpPr>
        <p:cNvPr id="1" name=""/>
        <p:cNvGrpSpPr/>
        <p:nvPr/>
      </p:nvGrpSpPr>
      <p:grpSpPr>
        <a:xfrm>
          <a:off x="0" y="0"/>
          <a:ext cx="0" cy="0"/>
          <a:chOff x="0" y="0"/>
          <a:chExt cx="0" cy="0"/>
        </a:xfrm>
      </p:grpSpPr>
      <p:sp>
        <p:nvSpPr>
          <p:cNvPr id="2" name="Text 0"/>
          <p:cNvSpPr/>
          <p:nvPr/>
        </p:nvSpPr>
        <p:spPr>
          <a:xfrm>
            <a:off x="548640" y="1097280"/>
            <a:ext cx="7315200" cy="274320"/>
          </a:xfrm>
          <a:prstGeom prst="rect">
            <a:avLst/>
          </a:prstGeom>
          <a:noFill/>
          <a:ln/>
        </p:spPr>
        <p:txBody>
          <a:bodyPr wrap="square" lIns="0" tIns="0" rIns="0" bIns="0" rtlCol="0" anchor="ctr"/>
          <a:lstStyle/>
          <a:p>
            <a:pPr indent="0" marL="0">
              <a:buNone/>
            </a:pPr>
            <a:r>
              <a:rPr lang="en-US" sz="1100" dirty="0">
                <a:solidFill>
                  <a:srgbClr val="FFCDD2"/>
                </a:solidFill>
              </a:rPr>
              <a:t>airCloset ADO 内部監査</a:t>
            </a:r>
            <a:endParaRPr lang="en-US" sz="1100" dirty="0"/>
          </a:p>
        </p:txBody>
      </p:sp>
      <p:sp>
        <p:nvSpPr>
          <p:cNvPr id="3" name="Text 1"/>
          <p:cNvSpPr/>
          <p:nvPr>
            <p:ph idx="101" type="title" hasCustomPrompt="1"/>
          </p:nvPr>
        </p:nvSpPr>
        <p:spPr>
          <a:xfrm>
            <a:off x="548640" y="1554480"/>
            <a:ext cx="8046720" cy="1463040"/>
          </a:xfrm>
          <a:prstGeom prst="rect">
            <a:avLst/>
          </a:prstGeom>
          <a:noFill/>
          <a:ln/>
        </p:spPr>
        <p:txBody>
          <a:bodyPr wrap="square" rtlCol="0"/>
          <a:lstStyle>
            <a:lvl1pPr indent="0" marL="0">
              <a:buNone/>
              <a:defRPr lang="en-US" sz="2800" b="1" dirty="0">
                <a:solidFill>
                  <a:srgbClr val="FFFFFF"/>
                </a:solidFill>
              </a:defRPr>
            </a:lvl1pPr>
          </a:lstStyle>
          <a:p>
            <a:pPr indent="0" marL="0">
              <a:buNone/>
            </a:pPr>
            <a:endParaRPr lang="en-US" sz="2800" dirty="0"/>
          </a:p>
        </p:txBody>
      </p:sp>
      <p:sp>
        <p:nvSpPr>
          <p:cNvPr id="4" name="Text 1"/>
          <p:cNvSpPr/>
          <p:nvPr>
            <p:ph idx="102" type="body" hasCustomPrompt="1"/>
          </p:nvPr>
        </p:nvSpPr>
        <p:spPr>
          <a:xfrm>
            <a:off x="548640" y="3291840"/>
            <a:ext cx="8046720" cy="731520"/>
          </a:xfrm>
          <a:prstGeom prst="rect">
            <a:avLst/>
          </a:prstGeom>
          <a:noFill/>
          <a:ln/>
        </p:spPr>
        <p:txBody>
          <a:bodyPr wrap="square" rtlCol="0"/>
          <a:lstStyle>
            <a:lvl1pPr indent="0" marL="0">
              <a:buNone/>
              <a:defRPr lang="en-US" sz="1200" dirty="0">
                <a:solidFill>
                  <a:srgbClr val="FFCDD2"/>
                </a:solidFill>
              </a:defRPr>
            </a:lvl1pPr>
          </a:lstStyle>
          <a:p>
            <a:pPr indent="0" marL="0">
              <a:buNone/>
            </a:pPr>
            <a:endParaRPr lang="en-US" sz="12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2103120"/>
            <a:ext cx="9144000" cy="822960"/>
          </a:xfrm>
          <a:prstGeom prst="rect">
            <a:avLst/>
          </a:prstGeom>
          <a:solidFill>
            <a:srgbClr val="B71C1C"/>
          </a:solidFill>
          <a:ln/>
        </p:spPr>
      </p:sp>
      <p:sp>
        <p:nvSpPr>
          <p:cNvPr id="3" name="Text 1"/>
          <p:cNvSpPr/>
          <p:nvPr>
            <p:ph idx="101" type="title" hasCustomPrompt="1"/>
          </p:nvPr>
        </p:nvSpPr>
        <p:spPr>
          <a:xfrm>
            <a:off x="0" y="2103120"/>
            <a:ext cx="9144000" cy="822960"/>
          </a:xfrm>
          <a:prstGeom prst="rect">
            <a:avLst/>
          </a:prstGeom>
          <a:noFill/>
          <a:ln/>
        </p:spPr>
        <p:txBody>
          <a:bodyPr wrap="square" rtlCol="0"/>
          <a:lstStyle>
            <a:lvl1pPr algn="ctr" indent="0" marL="0">
              <a:buNone/>
              <a:defRPr lang="en-US" sz="2000" b="1" dirty="0">
                <a:solidFill>
                  <a:srgbClr val="FFFFFF"/>
                </a:solidFill>
              </a:defRPr>
            </a:lvl1pPr>
          </a:lstStyle>
          <a:p>
            <a:pPr algn="ctr" indent="0" marL="0">
              <a:buNone/>
            </a:pPr>
            <a:endParaRPr lang="en-US" sz="2000" dirty="0"/>
          </a:p>
        </p:txBody>
      </p:sp>
      <p:sp>
        <p:nvSpPr>
          <p:cNvPr id="4" name="Text 1"/>
          <p:cNvSpPr/>
          <p:nvPr>
            <p:ph idx="102" type="body" hasCustomPrompt="1"/>
          </p:nvPr>
        </p:nvSpPr>
        <p:spPr>
          <a:xfrm>
            <a:off x="914400" y="3108960"/>
            <a:ext cx="7315200" cy="457200"/>
          </a:xfrm>
          <a:prstGeom prst="rect">
            <a:avLst/>
          </a:prstGeom>
          <a:noFill/>
          <a:ln/>
        </p:spPr>
        <p:txBody>
          <a:bodyPr wrap="square" rtlCol="0"/>
          <a:lstStyle>
            <a:lvl1pPr algn="ctr" indent="0" marL="0">
              <a:buNone/>
              <a:defRPr lang="en-US" sz="1000" dirty="0">
                <a:solidFill>
                  <a:srgbClr val="616161"/>
                </a:solidFill>
              </a:defRPr>
            </a:lvl1pPr>
          </a:lstStyle>
          <a:p>
            <a:pPr algn="ctr" indent="0" marL="0">
              <a:buNone/>
            </a:pP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554480"/>
            <a:ext cx="8046720" cy="1463040"/>
          </a:xfrm>
          <a:prstGeom prst="rect">
            <a:avLst/>
          </a:prstGeom>
          <a:noFill/>
          <a:ln/>
        </p:spPr>
        <p:txBody>
          <a:bodyPr wrap="square" lIns="0" tIns="0" rIns="0" bIns="0" rtlCol="0" anchor="t"/>
          <a:lstStyle/>
          <a:p>
            <a:pPr indent="0" marL="0">
              <a:buNone/>
            </a:pPr>
            <a:r>
              <a:rPr lang="en-US" sz="2800" b="1" dirty="0">
                <a:solidFill>
                  <a:srgbClr val="FFFFFF"/>
                </a:solidFill>
              </a:rPr>
              <a:t>内部監査：SCMG レベル3インシデントの</a:t>
            </a:r>
            <a:endParaRPr lang="en-US" sz="2800" dirty="0"/>
          </a:p>
          <a:p>
            <a:pPr indent="0" marL="0">
              <a:buNone/>
            </a:pPr>
            <a:r>
              <a:rPr lang="en-US" sz="2800" b="1" dirty="0">
                <a:solidFill>
                  <a:srgbClr val="FFFFFF"/>
                </a:solidFill>
              </a:rPr>
              <a:t>恒久対応チェック（2024-2026年）</a:t>
            </a:r>
            <a:endParaRPr lang="en-US" sz="2800" dirty="0"/>
          </a:p>
        </p:txBody>
      </p:sp>
      <p:sp>
        <p:nvSpPr>
          <p:cNvPr id="3" name="Text 1"/>
          <p:cNvSpPr/>
          <p:nvPr>
            <p:ph idx="102" type="body" hasCustomPrompt="1"/>
          </p:nvPr>
        </p:nvSpPr>
        <p:spPr>
          <a:xfrm>
            <a:off x="548640" y="3291840"/>
            <a:ext cx="8046720" cy="731520"/>
          </a:xfrm>
          <a:prstGeom prst="rect">
            <a:avLst/>
          </a:prstGeom>
          <a:noFill/>
          <a:ln/>
        </p:spPr>
        <p:txBody>
          <a:bodyPr wrap="square" lIns="0" tIns="0" rIns="0" bIns="0" rtlCol="0" anchor="t"/>
          <a:lstStyle/>
          <a:p>
            <a:pPr indent="0" marL="0">
              <a:buNone/>
            </a:pPr>
            <a:r>
              <a:rPr lang="en-US" sz="1200" dirty="0">
                <a:solidFill>
                  <a:srgbClr val="FFCDD2"/>
                </a:solidFill>
              </a:rPr>
              <a:t>第13期 内部監査　監査対象：SCMG（Log_div）　2026年10月　作成：内部監査担当</a:t>
            </a:r>
            <a:endParaRPr lang="en-US" sz="1200" dirty="0"/>
          </a:p>
          <a:p>
            <a:pPr indent="0" marL="0">
              <a:buNone/>
            </a:pPr>
            <a:r>
              <a:rPr lang="en-US" sz="1200" dirty="0">
                <a:solidFill>
                  <a:srgbClr val="FFCDD2"/>
                </a:solidFill>
              </a:rPr>
              <a:t>出典：【SCMG】インシデント管理シート（2026/6/5時点）</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AGENDA</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本日のアジェンダ</a:t>
            </a:r>
            <a:endParaRPr lang="en-US" sz="1800" dirty="0"/>
          </a:p>
        </p:txBody>
      </p:sp>
      <p:sp>
        <p:nvSpPr>
          <p:cNvPr id="4"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分析概要①：年別×レベル別インシデント数</a:t>
            </a:r>
            <a:endParaRPr lang="en-US" sz="1100" dirty="0"/>
          </a:p>
          <a:p>
            <a:pPr marL="342900" indent="-342900">
              <a:spcAft>
                <a:spcPts val="400"/>
              </a:spcAft>
              <a:buSzPct val="100000"/>
              <a:buChar char="■"/>
            </a:pPr>
            <a:r>
              <a:rPr lang="en-US" sz="1100" dirty="0">
                <a:solidFill>
                  <a:srgbClr val="222222"/>
                </a:solidFill>
              </a:rPr>
              <a:t>分析概要②：レベル別×原因分類別の件数</a:t>
            </a:r>
            <a:endParaRPr lang="en-US" sz="1100" dirty="0"/>
          </a:p>
          <a:p>
            <a:pPr marL="342900" indent="-342900">
              <a:spcAft>
                <a:spcPts val="400"/>
              </a:spcAft>
              <a:buSzPct val="100000"/>
              <a:buChar char="■"/>
            </a:pPr>
            <a:r>
              <a:rPr lang="en-US" sz="1100" dirty="0">
                <a:solidFill>
                  <a:srgbClr val="222222"/>
                </a:solidFill>
              </a:rPr>
              <a:t>分析概要③：恒久対応の記録状況</a:t>
            </a:r>
            <a:endParaRPr lang="en-US" sz="1100" dirty="0"/>
          </a:p>
          <a:p>
            <a:pPr marL="342900" indent="-342900">
              <a:spcAft>
                <a:spcPts val="400"/>
              </a:spcAft>
              <a:buSzPct val="100000"/>
              <a:buChar char="■"/>
            </a:pPr>
            <a:r>
              <a:rPr lang="en-US" sz="1100" dirty="0">
                <a:solidFill>
                  <a:srgbClr val="222222"/>
                </a:solidFill>
              </a:rPr>
              <a:t>事例ピックアップ：影響範囲・対策案・「実施しているか」の確認（6事例・11件）</a:t>
            </a:r>
            <a:endParaRPr lang="en-US" sz="1100" dirty="0"/>
          </a:p>
          <a:p>
            <a:pPr marL="342900" indent="-342900">
              <a:spcAft>
                <a:spcPts val="400"/>
              </a:spcAft>
              <a:buSzPct val="100000"/>
              <a:buChar char="■"/>
            </a:pPr>
            <a:r>
              <a:rPr lang="en-US" sz="1100" dirty="0">
                <a:solidFill>
                  <a:srgbClr val="222222"/>
                </a:solidFill>
              </a:rPr>
              <a:t>監査での確認アプローチ／組織課題への提言／次のアクション</a:t>
            </a:r>
            <a:endParaRPr lang="en-US" sz="1100" dirty="0"/>
          </a:p>
          <a:p>
            <a:pPr lvl="1" marL="685800" indent="-342900">
              <a:spcAft>
                <a:spcPts val="200"/>
              </a:spcAft>
              <a:buSzPct val="100000"/>
              <a:buChar char="・"/>
            </a:pPr>
            <a:r>
              <a:rPr lang="en-US" sz="1000" dirty="0">
                <a:solidFill>
                  <a:srgbClr val="222222"/>
                </a:solidFill>
              </a:rPr>
              <a:t>※ GRG監査（2026/8）と同じ構成。レギュラー設問No.1〜22のヒアリングと合わせて実施する</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OVERVIEW</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分析概要①：年別×レベル別インシデント数</a:t>
            </a:r>
            <a:endParaRPr lang="en-US" sz="1800" dirty="0"/>
          </a:p>
        </p:txBody>
      </p:sp>
      <p:sp>
        <p:nvSpPr>
          <p:cNvPr id="4" name="Text 2"/>
          <p:cNvSpPr/>
          <p:nvPr>
            <p:ph idx="104" type="body" hasCustomPrompt="1"/>
          </p:nvPr>
        </p:nvSpPr>
        <p:spPr>
          <a:xfrm>
            <a:off x="457200" y="1051560"/>
            <a:ext cx="512064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対象：2024〜2026年　発見件数32件（他Gで起票1件を含む）</a:t>
            </a:r>
            <a:endParaRPr lang="en-US" sz="1100" dirty="0"/>
          </a:p>
          <a:p>
            <a:pPr lvl="1" marL="685800" indent="-342900">
              <a:spcAft>
                <a:spcPts val="200"/>
              </a:spcAft>
              <a:buSzPct val="100000"/>
              <a:buChar char="・"/>
            </a:pPr>
            <a:r>
              <a:rPr lang="en-US" sz="1000" dirty="0">
                <a:solidFill>
                  <a:srgbClr val="222222"/>
                </a:solidFill>
              </a:rPr>
              <a:t>レベル1　9件 / レベル2　3件 / レベル3　19件</a:t>
            </a:r>
            <a:endParaRPr lang="en-US" sz="1100" dirty="0"/>
          </a:p>
          <a:p>
            <a:pPr marL="342900" indent="-342900">
              <a:spcAft>
                <a:spcPts val="400"/>
              </a:spcAft>
              <a:buSzPct val="100000"/>
              <a:buChar char="■"/>
            </a:pPr>
            <a:r>
              <a:rPr lang="en-US" sz="1100" dirty="0">
                <a:solidFill>
                  <a:srgbClr val="222222"/>
                </a:solidFill>
              </a:rPr>
              <a:t>年別の推移</a:t>
            </a:r>
            <a:endParaRPr lang="en-US" sz="1100" dirty="0"/>
          </a:p>
          <a:p>
            <a:pPr lvl="1" marL="685800" indent="-342900">
              <a:spcAft>
                <a:spcPts val="200"/>
              </a:spcAft>
              <a:buSzPct val="100000"/>
              <a:buChar char="・"/>
            </a:pPr>
            <a:r>
              <a:rPr lang="en-US" sz="1000" dirty="0">
                <a:solidFill>
                  <a:srgbClr val="222222"/>
                </a:solidFill>
              </a:rPr>
              <a:t>2024年　10件（Lv1:4 / Lv3:5 / 他Gで起票:1）</a:t>
            </a:r>
            <a:endParaRPr lang="en-US" sz="1100" dirty="0"/>
          </a:p>
          <a:p>
            <a:pPr lvl="1" marL="685800" indent="-342900">
              <a:spcAft>
                <a:spcPts val="200"/>
              </a:spcAft>
              <a:buSzPct val="100000"/>
              <a:buChar char="・"/>
            </a:pPr>
            <a:r>
              <a:rPr lang="en-US" sz="1000" dirty="0">
                <a:solidFill>
                  <a:srgbClr val="222222"/>
                </a:solidFill>
              </a:rPr>
              <a:t>2025年　13件（Lv1:2 / Lv2:1 / Lv3:10）</a:t>
            </a:r>
            <a:endParaRPr lang="en-US" sz="1100" dirty="0"/>
          </a:p>
          <a:p>
            <a:pPr lvl="1" marL="685800" indent="-342900">
              <a:spcAft>
                <a:spcPts val="200"/>
              </a:spcAft>
              <a:buSzPct val="100000"/>
              <a:buChar char="・"/>
            </a:pPr>
            <a:r>
              <a:rPr lang="en-US" sz="1000" dirty="0">
                <a:solidFill>
                  <a:srgbClr val="222222"/>
                </a:solidFill>
              </a:rPr>
              <a:t>2026年（〜6月5日）　9件（Lv1:3 / Lv2:2 / Lv3:4）</a:t>
            </a:r>
            <a:endParaRPr lang="en-US" sz="1100" dirty="0"/>
          </a:p>
          <a:p>
            <a:pPr lvl="2" marL="1028700" indent="-342900">
              <a:spcAft>
                <a:spcPts val="200"/>
              </a:spcAft>
              <a:buSzPct val="100000"/>
              <a:buChar char="→"/>
            </a:pPr>
            <a:r>
              <a:rPr lang="en-US" sz="1000" b="1" dirty="0">
                <a:solidFill>
                  <a:srgbClr val="222222"/>
                </a:solidFill>
              </a:rPr>
              <a:t>件数はGRG（158件）の1/5だが、レベル3比率は59%（GRG 41%）</a:t>
            </a:r>
            <a:endParaRPr lang="en-US" sz="1100" dirty="0"/>
          </a:p>
          <a:p>
            <a:pPr lvl="1" marL="685800" indent="-342900">
              <a:spcAft>
                <a:spcPts val="200"/>
              </a:spcAft>
              <a:buSzPct val="100000"/>
              <a:buChar char="・"/>
            </a:pPr>
            <a:r>
              <a:rPr lang="en-US" sz="1000" dirty="0">
                <a:solidFill>
                  <a:srgbClr val="222222"/>
                </a:solidFill>
              </a:rPr>
              <a:t>物流は1件の影響人数が大きい（#68 2,853名 / #69 1,154名 / #74 962名）</a:t>
            </a:r>
            <a:endParaRPr lang="en-US" sz="1100" dirty="0"/>
          </a:p>
          <a:p>
            <a:pPr lvl="1" marL="685800" indent="-342900">
              <a:spcAft>
                <a:spcPts val="200"/>
              </a:spcAft>
              <a:buSzPct val="100000"/>
              <a:buChar char="・"/>
            </a:pPr>
            <a:r>
              <a:rPr lang="en-US" sz="1000" dirty="0">
                <a:solidFill>
                  <a:srgbClr val="B71C1C"/>
                </a:solidFill>
              </a:rPr>
              <a:t>シートの最終更新は2026/6/5。以降の起票がない点は監査時に確認（固定設問No.17）</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852160" y="1188720"/>
          <a:ext cx="2834640" cy="914400"/>
        </p:xfrm>
        <a:graphic>
          <a:graphicData uri="http://schemas.openxmlformats.org/drawingml/2006/table">
            <a:tbl>
              <a:tblPr/>
              <a:tblGrid>
                <a:gridCol w="822960"/>
                <a:gridCol w="502920"/>
                <a:gridCol w="502920"/>
                <a:gridCol w="502920"/>
                <a:gridCol w="502920"/>
              </a:tblGrid>
              <a:tr h="274320">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発見年</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レベル1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レベル2</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レベル3</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2024年</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0</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5</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10 ※</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2025年</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10</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13</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2026年</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3</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9</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9</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3</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19</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32</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852160" y="2651760"/>
            <a:ext cx="2834640" cy="228600"/>
          </a:xfrm>
          <a:prstGeom prst="rect">
            <a:avLst/>
          </a:prstGeom>
          <a:noFill/>
          <a:ln/>
        </p:spPr>
        <p:txBody>
          <a:bodyPr wrap="square" lIns="0" tIns="0" rIns="0" bIns="0" rtlCol="0" anchor="ctr"/>
          <a:lstStyle/>
          <a:p>
            <a:pPr indent="0" marL="0">
              <a:buNone/>
            </a:pPr>
            <a:r>
              <a:rPr lang="en-US" sz="800" dirty="0">
                <a:solidFill>
                  <a:srgbClr val="616161"/>
                </a:solidFill>
              </a:rPr>
              <a:t>※ 他Gで起票1件を含む</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OVERVIEW</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分析概要②：レベル別×原因分類別の件数</a:t>
            </a:r>
            <a:endParaRPr lang="en-US" sz="1800" dirty="0"/>
          </a:p>
        </p:txBody>
      </p:sp>
      <p:sp>
        <p:nvSpPr>
          <p:cNvPr id="4" name="Text 2"/>
          <p:cNvSpPr/>
          <p:nvPr>
            <p:ph idx="104" type="body" hasCustomPrompt="1"/>
          </p:nvPr>
        </p:nvSpPr>
        <p:spPr>
          <a:xfrm>
            <a:off x="457200" y="1051560"/>
            <a:ext cx="512064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レベル3（19件）の原因内訳</a:t>
            </a:r>
            <a:endParaRPr lang="en-US" sz="1100" dirty="0"/>
          </a:p>
          <a:p>
            <a:pPr lvl="1" marL="685800" indent="-342900">
              <a:spcAft>
                <a:spcPts val="200"/>
              </a:spcAft>
              <a:buSzPct val="100000"/>
              <a:buChar char="・"/>
            </a:pPr>
            <a:r>
              <a:rPr lang="en-US" sz="1000" dirty="0">
                <a:solidFill>
                  <a:srgbClr val="222222"/>
                </a:solidFill>
              </a:rPr>
              <a:t>業務起因　17件（89.5%）＝作業起因12 / ルール不足5</a:t>
            </a:r>
            <a:endParaRPr lang="en-US" sz="1100" dirty="0"/>
          </a:p>
          <a:p>
            <a:pPr lvl="1" marL="685800" indent="-342900">
              <a:spcAft>
                <a:spcPts val="200"/>
              </a:spcAft>
              <a:buSzPct val="100000"/>
              <a:buChar char="・"/>
            </a:pPr>
            <a:r>
              <a:rPr lang="en-US" sz="1000" dirty="0">
                <a:solidFill>
                  <a:srgbClr val="222222"/>
                </a:solidFill>
              </a:rPr>
              <a:t>配送業者起因　1件 / 原因分類が空欄　1件</a:t>
            </a:r>
            <a:endParaRPr lang="en-US" sz="1100" dirty="0"/>
          </a:p>
          <a:p>
            <a:pPr marL="342900" indent="-342900">
              <a:spcAft>
                <a:spcPts val="400"/>
              </a:spcAft>
              <a:buSzPct val="100000"/>
              <a:buChar char="■"/>
            </a:pPr>
            <a:r>
              <a:rPr lang="en-US" sz="1100" dirty="0">
                <a:solidFill>
                  <a:srgbClr val="222222"/>
                </a:solidFill>
              </a:rPr>
              <a:t>レベル1・2（12件）も業務起因10件（83.3%）と同様の傾向</a:t>
            </a:r>
            <a:endParaRPr lang="en-US" sz="1100" dirty="0"/>
          </a:p>
          <a:p>
            <a:pPr lvl="2" marL="1028700" indent="-342900">
              <a:spcAft>
                <a:spcPts val="200"/>
              </a:spcAft>
              <a:buSzPct val="100000"/>
              <a:buChar char="→"/>
            </a:pPr>
            <a:r>
              <a:rPr lang="en-US" sz="1000" b="1" dirty="0">
                <a:solidFill>
                  <a:srgbClr val="222222"/>
                </a:solidFill>
              </a:rPr>
              <a:t>GRG（業務起因70.8%）よりさらに業務起因に偏る。システム起因はほぼ無い</a:t>
            </a:r>
            <a:endParaRPr lang="en-US" sz="1100" dirty="0"/>
          </a:p>
          <a:p>
            <a:pPr lvl="1" marL="685800" indent="-342900">
              <a:spcAft>
                <a:spcPts val="200"/>
              </a:spcAft>
              <a:buSzPct val="100000"/>
              <a:buChar char="・"/>
            </a:pPr>
            <a:r>
              <a:rPr lang="en-US" sz="1000" dirty="0">
                <a:solidFill>
                  <a:srgbClr val="222222"/>
                </a:solidFill>
              </a:rPr>
              <a:t>委託先（OAK物流・TOPOS）や配送業者（佐川・ヤマト・ピックゴー）の作業・障害が起点の案件が目立ち、「現場への厳重注意」で終わる恒久対応が多い</a:t>
            </a:r>
            <a:endParaRPr lang="en-US" sz="1100" dirty="0"/>
          </a:p>
          <a:p>
            <a:pPr lvl="1" marL="685800" indent="-342900">
              <a:spcAft>
                <a:spcPts val="200"/>
              </a:spcAft>
              <a:buSzPct val="100000"/>
              <a:buChar char="・"/>
            </a:pPr>
            <a:r>
              <a:rPr lang="en-US" sz="1000" dirty="0">
                <a:solidFill>
                  <a:srgbClr val="616161"/>
                </a:solidFill>
              </a:rPr>
              <a:t>※ 2023年9月以前は原因分類が「有／無」（システム起因の有無）で記録されており、現行分類とは比較できない</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852160" y="1188720"/>
          <a:ext cx="2834640" cy="914400"/>
        </p:xfrm>
        <a:graphic>
          <a:graphicData uri="http://schemas.openxmlformats.org/drawingml/2006/table">
            <a:tbl>
              <a:tblPr/>
              <a:tblGrid>
                <a:gridCol w="2103120"/>
                <a:gridCol w="731520"/>
              </a:tblGrid>
              <a:tr h="256032">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レベル3の原因分類</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件数</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業務起因_作業起因</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12</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業務起因_ルール不足</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5</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配送業者起因</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（空欄）</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5852160" y="2743200"/>
          <a:ext cx="2834640" cy="914400"/>
        </p:xfrm>
        <a:graphic>
          <a:graphicData uri="http://schemas.openxmlformats.org/drawingml/2006/table">
            <a:tbl>
              <a:tblPr/>
              <a:tblGrid>
                <a:gridCol w="2103120"/>
                <a:gridCol w="731520"/>
              </a:tblGrid>
              <a:tr h="256032">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レベル1・2の原因分類</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件数</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業務起因_作業起因</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10</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システム起因_仕様考慮漏れ</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システム起因_システムバグ</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OVERVIEW</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分析概要③：恒久対応の記録状況</a:t>
            </a:r>
            <a:endParaRPr lang="en-US" sz="1800" dirty="0"/>
          </a:p>
        </p:txBody>
      </p:sp>
      <p:sp>
        <p:nvSpPr>
          <p:cNvPr id="4" name="Text 2"/>
          <p:cNvSpPr/>
          <p:nvPr>
            <p:ph idx="104" type="body" hasCustomPrompt="1"/>
          </p:nvPr>
        </p:nvSpPr>
        <p:spPr>
          <a:xfrm>
            <a:off x="457200" y="1051560"/>
            <a:ext cx="512064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全体（32件）の記録状況</a:t>
            </a:r>
            <a:endParaRPr lang="en-US" sz="1100" dirty="0"/>
          </a:p>
          <a:p>
            <a:pPr lvl="1" marL="685800" indent="-342900">
              <a:spcAft>
                <a:spcPts val="200"/>
              </a:spcAft>
              <a:buSzPct val="100000"/>
              <a:buChar char="・"/>
            </a:pPr>
            <a:r>
              <a:rPr lang="en-US" sz="1000" dirty="0">
                <a:solidFill>
                  <a:srgbClr val="222222"/>
                </a:solidFill>
              </a:rPr>
              <a:t>恒久対応策の記入率　62.5%（20件）</a:t>
            </a:r>
            <a:endParaRPr lang="en-US" sz="1100" dirty="0"/>
          </a:p>
          <a:p>
            <a:pPr lvl="1" marL="685800" indent="-342900">
              <a:spcAft>
                <a:spcPts val="200"/>
              </a:spcAft>
              <a:buSzPct val="100000"/>
              <a:buChar char="・"/>
            </a:pPr>
            <a:r>
              <a:rPr lang="en-US" sz="1000" dirty="0">
                <a:solidFill>
                  <a:srgbClr val="222222"/>
                </a:solidFill>
              </a:rPr>
              <a:t>恒久対応承認者の記入率　90.6%（29件）</a:t>
            </a:r>
            <a:endParaRPr lang="en-US" sz="1100" dirty="0"/>
          </a:p>
          <a:p>
            <a:pPr lvl="1" marL="685800" indent="-342900">
              <a:spcAft>
                <a:spcPts val="200"/>
              </a:spcAft>
              <a:buSzPct val="100000"/>
              <a:buChar char="・"/>
            </a:pPr>
            <a:r>
              <a:rPr lang="en-US" sz="1000" dirty="0">
                <a:solidFill>
                  <a:srgbClr val="222222"/>
                </a:solidFill>
              </a:rPr>
              <a:t>恒久対応承認日の記入率　15.6%（5件）</a:t>
            </a:r>
            <a:endParaRPr lang="en-US" sz="1100" dirty="0"/>
          </a:p>
          <a:p>
            <a:pPr lvl="1" marL="685800" indent="-342900">
              <a:spcAft>
                <a:spcPts val="200"/>
              </a:spcAft>
              <a:buSzPct val="100000"/>
              <a:buChar char="・"/>
            </a:pPr>
            <a:r>
              <a:rPr lang="en-US" sz="1000" dirty="0">
                <a:solidFill>
                  <a:srgbClr val="222222"/>
                </a:solidFill>
              </a:rPr>
              <a:t>完了予定日の設定率　12.5%（4件）</a:t>
            </a:r>
            <a:endParaRPr lang="en-US" sz="1100" dirty="0"/>
          </a:p>
          <a:p>
            <a:pPr lvl="1" marL="685800" indent="-342900">
              <a:spcAft>
                <a:spcPts val="200"/>
              </a:spcAft>
              <a:buSzPct val="100000"/>
              <a:buChar char="・"/>
            </a:pPr>
            <a:r>
              <a:rPr lang="en-US" sz="1000" dirty="0">
                <a:solidFill>
                  <a:srgbClr val="222222"/>
                </a:solidFill>
              </a:rPr>
              <a:t>対応完了日の記入率　3.1%（1件）</a:t>
            </a:r>
            <a:endParaRPr lang="en-US" sz="1100" dirty="0"/>
          </a:p>
          <a:p>
            <a:pPr lvl="1" marL="685800" indent="-342900">
              <a:spcAft>
                <a:spcPts val="200"/>
              </a:spcAft>
              <a:buSzPct val="100000"/>
              <a:buChar char="・"/>
            </a:pPr>
            <a:r>
              <a:rPr lang="en-US" sz="1000" dirty="0">
                <a:solidFill>
                  <a:srgbClr val="222222"/>
                </a:solidFill>
              </a:rPr>
              <a:t>有効性の記入率　0.0%（0件）</a:t>
            </a:r>
            <a:endParaRPr lang="en-US" sz="1100" dirty="0"/>
          </a:p>
          <a:p>
            <a:pPr lvl="2" marL="1028700" indent="-342900">
              <a:spcAft>
                <a:spcPts val="200"/>
              </a:spcAft>
              <a:buSzPct val="100000"/>
              <a:buChar char="→"/>
            </a:pPr>
            <a:r>
              <a:rPr lang="en-US" sz="1000" b="1" dirty="0">
                <a:solidFill>
                  <a:srgbClr val="222222"/>
                </a:solidFill>
              </a:rPr>
              <a:t>GRG（恒久対応策93.1% / 完了予定日52.8% / 完了日33.3%）より記録そのものが薄い</a:t>
            </a:r>
            <a:endParaRPr lang="en-US" sz="1100" dirty="0"/>
          </a:p>
          <a:p>
            <a:pPr lvl="1" marL="685800" indent="-342900">
              <a:spcAft>
                <a:spcPts val="200"/>
              </a:spcAft>
              <a:buSzPct val="100000"/>
              <a:buChar char="・"/>
            </a:pPr>
            <a:r>
              <a:rPr lang="en-US" sz="1000" dirty="0">
                <a:solidFill>
                  <a:srgbClr val="222222"/>
                </a:solidFill>
              </a:rPr>
              <a:t>「承認者名はあるが承認日がない」はGRGと同型。加えてSCMGはレベル3の6件で恒久対応策が空欄（#69,70,71,73,74,80）</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852160" y="1188720"/>
          <a:ext cx="2834640" cy="914400"/>
        </p:xfrm>
        <a:graphic>
          <a:graphicData uri="http://schemas.openxmlformats.org/drawingml/2006/table">
            <a:tbl>
              <a:tblPr/>
              <a:tblGrid>
                <a:gridCol w="1554480"/>
                <a:gridCol w="1280160"/>
              </a:tblGrid>
              <a:tr h="256032">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指標</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レベル3のみ（19件）</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恒久対応策の記入率</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68.4%（13件）</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承認日の記入率</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26.3%（5件）</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完了予定日の設定率</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21.1%（4件）</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対応完了日の記入率</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5.3%（1件）</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有効性の記入率</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0.0%（0件）</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bl>
          </a:graphicData>
        </a:graphic>
      </p:graphicFrame>
      <p:sp>
        <p:nvSpPr>
          <p:cNvPr id="6" name="Shape 3"/>
          <p:cNvSpPr/>
          <p:nvPr/>
        </p:nvSpPr>
        <p:spPr>
          <a:xfrm>
            <a:off x="5852160" y="2971800"/>
            <a:ext cx="2834640" cy="1188720"/>
          </a:xfrm>
          <a:prstGeom prst="rect">
            <a:avLst/>
          </a:prstGeom>
          <a:solidFill>
            <a:srgbClr val="FDECEA"/>
          </a:solidFill>
          <a:ln w="12700">
            <a:solidFill>
              <a:srgbClr val="FDECEA"/>
            </a:solidFill>
            <a:prstDash val="solid"/>
          </a:ln>
        </p:spPr>
      </p:sp>
      <p:sp>
        <p:nvSpPr>
          <p:cNvPr id="7" name="Text 4"/>
          <p:cNvSpPr txBox="1"/>
          <p:nvPr/>
        </p:nvSpPr>
        <p:spPr>
          <a:xfrm>
            <a:off x="5943600" y="3017520"/>
            <a:ext cx="2651760" cy="1097280"/>
          </a:xfrm>
          <a:prstGeom prst="rect">
            <a:avLst/>
          </a:prstGeom>
          <a:noFill/>
          <a:ln/>
        </p:spPr>
        <p:txBody>
          <a:bodyPr wrap="square" lIns="0" tIns="0" rIns="0" bIns="0" rtlCol="0" anchor="t"/>
          <a:lstStyle/>
          <a:p>
            <a:pPr indent="0" marL="0">
              <a:buNone/>
            </a:pPr>
            <a:r>
              <a:rPr lang="en-US" sz="950" b="1" dirty="0">
                <a:solidFill>
                  <a:srgbClr val="B71C1C"/>
                </a:solidFill>
              </a:rPr>
              <a:t>レベル3・19件のうち、完了日が記入されているのは1件、有効性は0件。</a:t>
            </a:r>
            <a:endParaRPr lang="en-US" sz="950" dirty="0"/>
          </a:p>
          <a:p>
            <a:pPr indent="0" marL="0">
              <a:buNone/>
            </a:pPr>
            <a:r>
              <a:rPr lang="en-US" sz="950" b="1" dirty="0">
                <a:solidFill>
                  <a:srgbClr val="B71C1C"/>
                </a:solidFill>
              </a:rPr>
              <a:t>台帳からは「対策が実行されたか」を一切判別できない状態。</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OVERVIEW</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事例ピックアップ対象：17件（業務起因×レベル3）→ 6事例に集約</a:t>
            </a:r>
            <a:endParaRPr lang="en-US" sz="1800" dirty="0"/>
          </a:p>
        </p:txBody>
      </p:sp>
      <p:sp>
        <p:nvSpPr>
          <p:cNvPr id="4" name="Text 2"/>
          <p:cNvSpPr/>
          <p:nvPr>
            <p:ph idx="104" type="body" hasCustomPrompt="1"/>
          </p:nvPr>
        </p:nvSpPr>
        <p:spPr>
          <a:xfrm>
            <a:off x="457200" y="1051560"/>
            <a:ext cx="420624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抽出条件</a:t>
            </a:r>
            <a:endParaRPr lang="en-US" sz="1100" dirty="0"/>
          </a:p>
          <a:p>
            <a:pPr lvl="1" marL="685800" indent="-342900">
              <a:spcAft>
                <a:spcPts val="200"/>
              </a:spcAft>
              <a:buSzPct val="100000"/>
              <a:buChar char="・"/>
            </a:pPr>
            <a:r>
              <a:rPr lang="en-US" sz="1000" dirty="0">
                <a:solidFill>
                  <a:srgbClr val="222222"/>
                </a:solidFill>
              </a:rPr>
              <a:t>発見日：2024〜2026年</a:t>
            </a:r>
            <a:endParaRPr lang="en-US" sz="1100" dirty="0"/>
          </a:p>
          <a:p>
            <a:pPr lvl="1" marL="685800" indent="-342900">
              <a:spcAft>
                <a:spcPts val="200"/>
              </a:spcAft>
              <a:buSzPct val="100000"/>
              <a:buChar char="・"/>
            </a:pPr>
            <a:r>
              <a:rPr lang="en-US" sz="1000" dirty="0">
                <a:solidFill>
                  <a:srgbClr val="222222"/>
                </a:solidFill>
              </a:rPr>
              <a:t>レベル：3</a:t>
            </a:r>
            <a:endParaRPr lang="en-US" sz="1100" dirty="0"/>
          </a:p>
          <a:p>
            <a:pPr lvl="1" marL="685800" indent="-342900">
              <a:spcAft>
                <a:spcPts val="200"/>
              </a:spcAft>
              <a:buSzPct val="100000"/>
              <a:buChar char="・"/>
            </a:pPr>
            <a:r>
              <a:rPr lang="en-US" sz="1000" dirty="0">
                <a:solidFill>
                  <a:srgbClr val="222222"/>
                </a:solidFill>
              </a:rPr>
              <a:t>原因分類：業務起因（作業起因12件・ルール不足5件）</a:t>
            </a:r>
            <a:endParaRPr lang="en-US" sz="1100" dirty="0"/>
          </a:p>
          <a:p>
            <a:pPr marL="342900" indent="-342900">
              <a:spcAft>
                <a:spcPts val="400"/>
              </a:spcAft>
              <a:buSzPct val="100000"/>
              <a:buChar char="■"/>
            </a:pPr>
            <a:r>
              <a:rPr lang="en-US" sz="1100" dirty="0">
                <a:solidFill>
                  <a:srgbClr val="222222"/>
                </a:solidFill>
              </a:rPr>
              <a:t>該当：17件 → 同型の再発を束ねて6事例（11件）を優先確認</a:t>
            </a:r>
            <a:endParaRPr lang="en-US" sz="1100" dirty="0"/>
          </a:p>
          <a:p>
            <a:pPr lvl="1" marL="685800" indent="-342900">
              <a:spcAft>
                <a:spcPts val="200"/>
              </a:spcAft>
              <a:buSzPct val="100000"/>
              <a:buChar char="・"/>
            </a:pPr>
            <a:r>
              <a:rPr lang="en-US" sz="1000" dirty="0">
                <a:solidFill>
                  <a:srgbClr val="222222"/>
                </a:solidFill>
              </a:rPr>
              <a:t>残り6件（#63,66,69,70,73,80）はレベル3全件確認の一環として、台帳の記録状況（承認日・対策未記載）を中心に確認</a:t>
            </a:r>
            <a:endParaRPr lang="en-US" sz="1100" dirty="0"/>
          </a:p>
          <a:p>
            <a:pPr marL="342900" indent="-342900">
              <a:spcAft>
                <a:spcPts val="400"/>
              </a:spcAft>
              <a:buSzPct val="100000"/>
              <a:buChar char="■"/>
            </a:pPr>
            <a:r>
              <a:rPr lang="en-US" sz="1100" dirty="0">
                <a:solidFill>
                  <a:srgbClr val="222222"/>
                </a:solidFill>
              </a:rPr>
              <a:t>選定の観点</a:t>
            </a:r>
            <a:endParaRPr lang="en-US" sz="1100" dirty="0"/>
          </a:p>
          <a:p>
            <a:pPr lvl="1" marL="685800" indent="-342900">
              <a:spcAft>
                <a:spcPts val="200"/>
              </a:spcAft>
              <a:buSzPct val="100000"/>
              <a:buChar char="・"/>
            </a:pPr>
            <a:r>
              <a:rPr lang="en-US" sz="1000" dirty="0">
                <a:solidFill>
                  <a:srgbClr val="222222"/>
                </a:solidFill>
              </a:rPr>
              <a:t>再発している（出荷締め漏れ・事後稟議・同梱物）</a:t>
            </a:r>
            <a:endParaRPr lang="en-US" sz="1100" dirty="0"/>
          </a:p>
          <a:p>
            <a:pPr lvl="1" marL="685800" indent="-342900">
              <a:spcAft>
                <a:spcPts val="200"/>
              </a:spcAft>
              <a:buSzPct val="100000"/>
              <a:buChar char="・"/>
            </a:pPr>
            <a:r>
              <a:rPr lang="en-US" sz="1000" dirty="0">
                <a:solidFill>
                  <a:srgbClr val="222222"/>
                </a:solidFill>
              </a:rPr>
              <a:t>恒久対応が未実行のまま再発した（#62）</a:t>
            </a:r>
            <a:endParaRPr lang="en-US" sz="1100" dirty="0"/>
          </a:p>
          <a:p>
            <a:pPr lvl="1" marL="685800" indent="-342900">
              <a:spcAft>
                <a:spcPts val="200"/>
              </a:spcAft>
              <a:buSzPct val="100000"/>
              <a:buChar char="・"/>
            </a:pPr>
            <a:r>
              <a:rPr lang="en-US" sz="1000" dirty="0">
                <a:solidFill>
                  <a:srgbClr val="222222"/>
                </a:solidFill>
              </a:rPr>
              <a:t>承認・期限は設定されているのに完了が追われていない（#55・#59）</a:t>
            </a:r>
            <a:endParaRPr lang="en-US" sz="1100" dirty="0"/>
          </a:p>
          <a:p>
            <a:pPr lvl="1" marL="685800" indent="-342900">
              <a:spcAft>
                <a:spcPts val="200"/>
              </a:spcAft>
              <a:buSzPct val="100000"/>
              <a:buChar char="・"/>
            </a:pPr>
            <a:r>
              <a:rPr lang="en-US" sz="1000" dirty="0">
                <a:solidFill>
                  <a:srgbClr val="222222"/>
                </a:solidFill>
              </a:rPr>
              <a:t>個人情報など全社リスクに直結する（#75）</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846320" y="1097280"/>
          <a:ext cx="3840480" cy="914400"/>
        </p:xfrm>
        <a:graphic>
          <a:graphicData uri="http://schemas.openxmlformats.org/drawingml/2006/table">
            <a:tbl>
              <a:tblPr/>
              <a:tblGrid>
                <a:gridCol w="457200"/>
                <a:gridCol w="822960"/>
                <a:gridCol w="2560320"/>
              </a:tblGrid>
              <a:tr h="237744">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事例</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発見日</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課題タイトル（抜粋）</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①</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2024/12/22</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JTB同梱カードの在庫切れ</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①</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2025/1/7</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#61の恒久対応が実行できていなかった</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②</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2026/2/28</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出荷締め漏れ（Mall）</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②</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2026/3/17</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出荷締め漏れ（東京ソワール）</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③</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2024/3/1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事後稟議（GLP倉庫・反社チェック）</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③</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2025/2/19</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事後稟議（流山ボイラー保守契約）</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④</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2024/2/8</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コンセプトブックの同梱漏れ</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④</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2025/8/4</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友達紹介DMの発送停止ミス</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⑤</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2026/1/24</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伝票同梱による個人情報流出</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⑥</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2024/3/21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DisneyのC品が二次流通業者へ引き渡し</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⑥</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2024/8/6</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オーク物流の停電による作業停止</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CASE STUDY（レベル3）</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事例①：同梱品の在庫切れ → 恒久対応「未実行」のまま再発</a:t>
            </a:r>
            <a:endParaRPr lang="en-US" sz="1800" dirty="0"/>
          </a:p>
        </p:txBody>
      </p:sp>
      <p:sp>
        <p:nvSpPr>
          <p:cNvPr id="4" name="Text 2"/>
          <p:cNvSpPr txBox="1"/>
          <p:nvPr/>
        </p:nvSpPr>
        <p:spPr>
          <a:xfrm>
            <a:off x="457200" y="987552"/>
            <a:ext cx="6035040" cy="228600"/>
          </a:xfrm>
          <a:prstGeom prst="rect">
            <a:avLst/>
          </a:prstGeom>
          <a:noFill/>
          <a:ln/>
        </p:spPr>
        <p:txBody>
          <a:bodyPr wrap="square" lIns="0" tIns="0" rIns="0" bIns="0" rtlCol="0" anchor="ctr"/>
          <a:lstStyle/>
          <a:p>
            <a:pPr indent="0" marL="0">
              <a:buNone/>
            </a:pPr>
            <a:r>
              <a:rPr lang="en-US" sz="900" dirty="0">
                <a:solidFill>
                  <a:srgbClr val="616161"/>
                </a:solidFill>
              </a:rPr>
              <a:t>SCMG / #61 発見日：2024/12/22 ・ #62 発見日：2025/1/7 / いずれもレベル3</a:t>
            </a:r>
            <a:endParaRPr lang="en-US" sz="900" dirty="0"/>
          </a:p>
        </p:txBody>
      </p:sp>
      <p:sp>
        <p:nvSpPr>
          <p:cNvPr id="5" name="Shape 3"/>
          <p:cNvSpPr/>
          <p:nvPr/>
        </p:nvSpPr>
        <p:spPr>
          <a:xfrm>
            <a:off x="6583680" y="960120"/>
            <a:ext cx="2103120" cy="274320"/>
          </a:xfrm>
          <a:prstGeom prst="roundRect">
            <a:avLst>
              <a:gd name="adj" fmla="val 26667"/>
            </a:avLst>
          </a:prstGeom>
          <a:solidFill>
            <a:srgbClr val="E57373"/>
          </a:solidFill>
          <a:ln w="12700">
            <a:solidFill>
              <a:srgbClr val="E57373"/>
            </a:solidFill>
            <a:prstDash val="solid"/>
          </a:ln>
        </p:spPr>
      </p:sp>
      <p:sp>
        <p:nvSpPr>
          <p:cNvPr id="6" name="Text 4"/>
          <p:cNvSpPr txBox="1"/>
          <p:nvPr/>
        </p:nvSpPr>
        <p:spPr>
          <a:xfrm>
            <a:off x="6583680" y="960120"/>
            <a:ext cx="2103120" cy="274320"/>
          </a:xfrm>
          <a:prstGeom prst="rect">
            <a:avLst/>
          </a:prstGeom>
          <a:noFill/>
          <a:ln/>
        </p:spPr>
        <p:txBody>
          <a:bodyPr wrap="square" lIns="0" tIns="0" rIns="0" bIns="0" rtlCol="0" anchor="ctr"/>
          <a:lstStyle/>
          <a:p>
            <a:pPr algn="ctr" indent="0" marL="0">
              <a:buNone/>
            </a:pPr>
            <a:r>
              <a:rPr lang="en-US" sz="850" b="1" dirty="0">
                <a:solidFill>
                  <a:srgbClr val="FFFFFF"/>
                </a:solidFill>
              </a:rPr>
              <a:t>未実施・不明</a:t>
            </a:r>
            <a:endParaRPr lang="en-US" sz="850" dirty="0"/>
          </a:p>
        </p:txBody>
      </p:sp>
      <p:sp>
        <p:nvSpPr>
          <p:cNvPr id="7" name="Text 5"/>
          <p:cNvSpPr txBox="1"/>
          <p:nvPr/>
        </p:nvSpPr>
        <p:spPr>
          <a:xfrm>
            <a:off x="457200" y="1243584"/>
            <a:ext cx="8229600" cy="274320"/>
          </a:xfrm>
          <a:prstGeom prst="rect">
            <a:avLst/>
          </a:prstGeom>
          <a:noFill/>
          <a:ln/>
        </p:spPr>
        <p:txBody>
          <a:bodyPr wrap="square" lIns="0" tIns="0" rIns="0" bIns="0" rtlCol="0" anchor="ctr"/>
          <a:lstStyle/>
          <a:p>
            <a:pPr indent="0" marL="0">
              <a:buNone/>
            </a:pPr>
            <a:r>
              <a:rPr lang="en-US" sz="950" b="1" dirty="0">
                <a:solidFill>
                  <a:srgbClr val="B71C1C"/>
                </a:solidFill>
              </a:rPr>
              <a:t>影響範囲：</a:t>
            </a:r>
            <a:pPr indent="0" marL="0">
              <a:buNone/>
            </a:pPr>
            <a:r>
              <a:rPr lang="en-US" sz="950" dirty="0">
                <a:solidFill>
                  <a:srgbClr val="222222"/>
                </a:solidFill>
              </a:rPr>
              <a:t>#61 300名（JTB同梱カードが同梱されず）／ #62 90名（コラボギフトのカタログ在庫切れで旧版を発送）</a:t>
            </a:r>
            <a:endParaRPr lang="en-US" sz="950" dirty="0"/>
          </a:p>
        </p:txBody>
      </p:sp>
      <p:sp>
        <p:nvSpPr>
          <p:cNvPr id="8" name="Shape 6"/>
          <p:cNvSpPr/>
          <p:nvPr/>
        </p:nvSpPr>
        <p:spPr>
          <a:xfrm>
            <a:off x="457200" y="1572768"/>
            <a:ext cx="8229600" cy="868680"/>
          </a:xfrm>
          <a:prstGeom prst="rect">
            <a:avLst/>
          </a:prstGeom>
          <a:solidFill>
            <a:srgbClr val="F4F4F4"/>
          </a:solidFill>
          <a:ln w="12700">
            <a:solidFill>
              <a:srgbClr val="F4F4F4"/>
            </a:solidFill>
            <a:prstDash val="solid"/>
          </a:ln>
        </p:spPr>
      </p:sp>
      <p:sp>
        <p:nvSpPr>
          <p:cNvPr id="9" name="Text 7"/>
          <p:cNvSpPr txBox="1"/>
          <p:nvPr/>
        </p:nvSpPr>
        <p:spPr>
          <a:xfrm>
            <a:off x="548640" y="16093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原因</a:t>
            </a:r>
            <a:endParaRPr lang="en-US" sz="850" dirty="0"/>
          </a:p>
        </p:txBody>
      </p:sp>
      <p:sp>
        <p:nvSpPr>
          <p:cNvPr id="10" name="Text 8"/>
          <p:cNvSpPr txBox="1"/>
          <p:nvPr/>
        </p:nvSpPr>
        <p:spPr>
          <a:xfrm>
            <a:off x="548640" y="1810512"/>
            <a:ext cx="8046720" cy="594360"/>
          </a:xfrm>
          <a:prstGeom prst="rect">
            <a:avLst/>
          </a:prstGeom>
          <a:noFill/>
          <a:ln/>
        </p:spPr>
        <p:txBody>
          <a:bodyPr wrap="square" lIns="0" tIns="0" rIns="0" bIns="0" rtlCol="0" anchor="t"/>
          <a:lstStyle/>
          <a:p>
            <a:pPr indent="0" marL="0">
              <a:buNone/>
            </a:pPr>
            <a:r>
              <a:rPr lang="en-US" sz="850" dirty="0">
                <a:solidFill>
                  <a:srgbClr val="222222"/>
                </a:solidFill>
              </a:rPr>
              <a:t>同梱物の発注点が不明確で、現場からのエスカレーション頼みの在庫管理だった（#61）。#61の恒久対応（棚卸し）をOAK物流に依頼したがリソース不足で断られ、その周知も代替手段もないまま同型が再発（#62）。</a:t>
            </a:r>
            <a:endParaRPr lang="en-US" sz="850" dirty="0"/>
          </a:p>
        </p:txBody>
      </p:sp>
      <p:sp>
        <p:nvSpPr>
          <p:cNvPr id="11" name="Shape 9"/>
          <p:cNvSpPr/>
          <p:nvPr/>
        </p:nvSpPr>
        <p:spPr>
          <a:xfrm>
            <a:off x="457200" y="2487168"/>
            <a:ext cx="8229600" cy="868680"/>
          </a:xfrm>
          <a:prstGeom prst="rect">
            <a:avLst/>
          </a:prstGeom>
          <a:solidFill>
            <a:srgbClr val="F4F4F4"/>
          </a:solidFill>
          <a:ln w="12700">
            <a:solidFill>
              <a:srgbClr val="F4F4F4"/>
            </a:solidFill>
            <a:prstDash val="solid"/>
          </a:ln>
        </p:spPr>
      </p:sp>
      <p:sp>
        <p:nvSpPr>
          <p:cNvPr id="12" name="Text 10"/>
          <p:cNvSpPr txBox="1"/>
          <p:nvPr/>
        </p:nvSpPr>
        <p:spPr>
          <a:xfrm>
            <a:off x="548640" y="25237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対策案（恒久対応）</a:t>
            </a:r>
            <a:endParaRPr lang="en-US" sz="850" dirty="0"/>
          </a:p>
        </p:txBody>
      </p:sp>
      <p:sp>
        <p:nvSpPr>
          <p:cNvPr id="13" name="Text 11"/>
          <p:cNvSpPr txBox="1"/>
          <p:nvPr/>
        </p:nvSpPr>
        <p:spPr>
          <a:xfrm>
            <a:off x="548640" y="2724912"/>
            <a:ext cx="8046720" cy="594360"/>
          </a:xfrm>
          <a:prstGeom prst="rect">
            <a:avLst/>
          </a:prstGeom>
          <a:noFill/>
          <a:ln/>
        </p:spPr>
        <p:txBody>
          <a:bodyPr wrap="square" lIns="0" tIns="0" rIns="0" bIns="0" rtlCol="0" anchor="t"/>
          <a:lstStyle/>
          <a:p>
            <a:pPr indent="0" marL="0">
              <a:buNone/>
            </a:pPr>
            <a:r>
              <a:rPr lang="en-US" sz="850" dirty="0">
                <a:solidFill>
                  <a:srgbClr val="222222"/>
                </a:solidFill>
              </a:rPr>
              <a:t>①全同梱品を月1回カウントする棚卸しのルール化（約4,000円/月） ②同梱数データのシステム改善（データと実態のズレ解消） ③一か月内に棚卸しの手順と工数を明確化してOAK物流に実行余力を依頼、不可ならエアクロ側で人員調達（#62）。</a:t>
            </a:r>
            <a:endParaRPr lang="en-US" sz="850" dirty="0"/>
          </a:p>
        </p:txBody>
      </p:sp>
      <p:sp>
        <p:nvSpPr>
          <p:cNvPr id="14" name="Shape 12"/>
          <p:cNvSpPr/>
          <p:nvPr/>
        </p:nvSpPr>
        <p:spPr>
          <a:xfrm>
            <a:off x="457200" y="3401568"/>
            <a:ext cx="8229600" cy="1097280"/>
          </a:xfrm>
          <a:prstGeom prst="rect">
            <a:avLst/>
          </a:prstGeom>
          <a:solidFill>
            <a:srgbClr val="F4F4F4"/>
          </a:solidFill>
          <a:ln w="12700">
            <a:solidFill>
              <a:srgbClr val="F4F4F4"/>
            </a:solidFill>
            <a:prstDash val="solid"/>
          </a:ln>
        </p:spPr>
      </p:sp>
      <p:sp>
        <p:nvSpPr>
          <p:cNvPr id="15" name="Text 13"/>
          <p:cNvSpPr txBox="1"/>
          <p:nvPr/>
        </p:nvSpPr>
        <p:spPr>
          <a:xfrm>
            <a:off x="548640" y="34381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実施確認の方法／状況</a:t>
            </a:r>
            <a:endParaRPr lang="en-US" sz="850" dirty="0"/>
          </a:p>
        </p:txBody>
      </p:sp>
      <p:sp>
        <p:nvSpPr>
          <p:cNvPr id="16" name="Text 14"/>
          <p:cNvSpPr txBox="1"/>
          <p:nvPr/>
        </p:nvSpPr>
        <p:spPr>
          <a:xfrm>
            <a:off x="548640" y="3639312"/>
            <a:ext cx="8046720" cy="822960"/>
          </a:xfrm>
          <a:prstGeom prst="rect">
            <a:avLst/>
          </a:prstGeom>
          <a:noFill/>
          <a:ln/>
        </p:spPr>
        <p:txBody>
          <a:bodyPr wrap="square" lIns="0" tIns="0" rIns="0" bIns="0" rtlCol="0" anchor="t"/>
          <a:lstStyle/>
          <a:p>
            <a:pPr indent="0" marL="0">
              <a:buNone/>
            </a:pPr>
            <a:r>
              <a:rPr lang="en-US" sz="850" dirty="0">
                <a:solidFill>
                  <a:srgbClr val="222222"/>
                </a:solidFill>
              </a:rPr>
              <a:t>・棚卸し記録（直近月）とOAK物流との作業合意・費用の現物を確認</a:t>
            </a:r>
            <a:endParaRPr lang="en-US" sz="850" dirty="0"/>
          </a:p>
          <a:p>
            <a:pPr indent="0" marL="0">
              <a:buNone/>
            </a:pPr>
            <a:r>
              <a:rPr lang="en-US" sz="850" dirty="0">
                <a:solidFill>
                  <a:srgbClr val="222222"/>
                </a:solidFill>
              </a:rPr>
              <a:t>・2件とも承認者mashのみで承認日・完了予定日・完了日がすべて未記入。レベル3としての社長承認の形跡（役員会確認欄も空欄）</a:t>
            </a:r>
            <a:endParaRPr lang="en-US" sz="850" dirty="0"/>
          </a:p>
          <a:p>
            <a:pPr indent="0" marL="0">
              <a:buNone/>
            </a:pPr>
            <a:r>
              <a:rPr lang="en-US" sz="850" dirty="0">
                <a:solidFill>
                  <a:srgbClr val="222222"/>
                </a:solidFill>
              </a:rPr>
              <a:t>・2025/1以降に同梱物の在庫切れ・旧版混入が再発していないか。対策が「人がカウントする」だけに留まっていないか</a:t>
            </a:r>
            <a:endParaRPr lang="en-US" sz="850" dirty="0"/>
          </a:p>
        </p:txBody>
      </p:sp>
      <p:sp>
        <p:nvSpPr>
          <p:cNvPr id="17" name="Text 15"/>
          <p:cNvSpPr txBox="1"/>
          <p:nvPr/>
        </p:nvSpPr>
        <p:spPr>
          <a:xfrm>
            <a:off x="457200" y="4544568"/>
            <a:ext cx="8229600" cy="228600"/>
          </a:xfrm>
          <a:prstGeom prst="rect">
            <a:avLst/>
          </a:prstGeom>
          <a:noFill/>
          <a:ln/>
        </p:spPr>
        <p:txBody>
          <a:bodyPr wrap="square" lIns="0" tIns="0" rIns="0" bIns="0" rtlCol="0" anchor="ctr"/>
          <a:lstStyle/>
          <a:p>
            <a:pPr indent="0" marL="0">
              <a:buNone/>
            </a:pPr>
            <a:r>
              <a:rPr lang="en-US" sz="800" dirty="0">
                <a:solidFill>
                  <a:srgbClr val="616161"/>
                </a:solidFill>
              </a:rPr>
              <a:t>※ 「恒久対応が実行されていなかった」こと自体が起票された案件。本監査テーマ（恒久対応の運用確認）の中核事例</a:t>
            </a:r>
            <a:endParaRPr lang="en-US" sz="800" dirty="0"/>
          </a:p>
        </p:txBody>
      </p:sp>
      <p:sp>
        <p:nvSpPr>
          <p:cNvPr id="18"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indent="0" marL="0">
              <a:buNone/>
            </a:pP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CASE STUDY（レベル3）</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事例②：出荷締め漏れが2週間で2回発生（5年間で5回目）</a:t>
            </a:r>
            <a:endParaRPr lang="en-US" sz="1800" dirty="0"/>
          </a:p>
        </p:txBody>
      </p:sp>
      <p:sp>
        <p:nvSpPr>
          <p:cNvPr id="4" name="Text 2"/>
          <p:cNvSpPr txBox="1"/>
          <p:nvPr/>
        </p:nvSpPr>
        <p:spPr>
          <a:xfrm>
            <a:off x="457200" y="987552"/>
            <a:ext cx="6035040" cy="228600"/>
          </a:xfrm>
          <a:prstGeom prst="rect">
            <a:avLst/>
          </a:prstGeom>
          <a:noFill/>
          <a:ln/>
        </p:spPr>
        <p:txBody>
          <a:bodyPr wrap="square" lIns="0" tIns="0" rIns="0" bIns="0" rtlCol="0" anchor="ctr"/>
          <a:lstStyle/>
          <a:p>
            <a:pPr indent="0" marL="0">
              <a:buNone/>
            </a:pPr>
            <a:r>
              <a:rPr lang="en-US" sz="900" dirty="0">
                <a:solidFill>
                  <a:srgbClr val="616161"/>
                </a:solidFill>
              </a:rPr>
              <a:t>SCMG / #76 発見日：2026/2/28（Mall・Lv3）・ #77 発見日：2026/3/17（東京ソワール・Lv2）</a:t>
            </a:r>
            <a:endParaRPr lang="en-US" sz="900" dirty="0"/>
          </a:p>
        </p:txBody>
      </p:sp>
      <p:sp>
        <p:nvSpPr>
          <p:cNvPr id="5" name="Shape 3"/>
          <p:cNvSpPr/>
          <p:nvPr/>
        </p:nvSpPr>
        <p:spPr>
          <a:xfrm>
            <a:off x="6583680" y="960120"/>
            <a:ext cx="2103120" cy="274320"/>
          </a:xfrm>
          <a:prstGeom prst="roundRect">
            <a:avLst>
              <a:gd name="adj" fmla="val 26667"/>
            </a:avLst>
          </a:prstGeom>
          <a:solidFill>
            <a:srgbClr val="E57373"/>
          </a:solidFill>
          <a:ln w="12700">
            <a:solidFill>
              <a:srgbClr val="E57373"/>
            </a:solidFill>
            <a:prstDash val="solid"/>
          </a:ln>
        </p:spPr>
      </p:sp>
      <p:sp>
        <p:nvSpPr>
          <p:cNvPr id="6" name="Text 4"/>
          <p:cNvSpPr txBox="1"/>
          <p:nvPr/>
        </p:nvSpPr>
        <p:spPr>
          <a:xfrm>
            <a:off x="6583680" y="960120"/>
            <a:ext cx="2103120" cy="274320"/>
          </a:xfrm>
          <a:prstGeom prst="rect">
            <a:avLst/>
          </a:prstGeom>
          <a:noFill/>
          <a:ln/>
        </p:spPr>
        <p:txBody>
          <a:bodyPr wrap="square" lIns="0" tIns="0" rIns="0" bIns="0" rtlCol="0" anchor="ctr"/>
          <a:lstStyle/>
          <a:p>
            <a:pPr algn="ctr" indent="0" marL="0">
              <a:buNone/>
            </a:pPr>
            <a:r>
              <a:rPr lang="en-US" sz="850" b="1" dirty="0">
                <a:solidFill>
                  <a:srgbClr val="FFFFFF"/>
                </a:solidFill>
              </a:rPr>
              <a:t>再発・承認日なし</a:t>
            </a:r>
            <a:endParaRPr lang="en-US" sz="850" dirty="0"/>
          </a:p>
        </p:txBody>
      </p:sp>
      <p:sp>
        <p:nvSpPr>
          <p:cNvPr id="7" name="Text 5"/>
          <p:cNvSpPr txBox="1"/>
          <p:nvPr/>
        </p:nvSpPr>
        <p:spPr>
          <a:xfrm>
            <a:off x="457200" y="1243584"/>
            <a:ext cx="8229600" cy="274320"/>
          </a:xfrm>
          <a:prstGeom prst="rect">
            <a:avLst/>
          </a:prstGeom>
          <a:noFill/>
          <a:ln/>
        </p:spPr>
        <p:txBody>
          <a:bodyPr wrap="square" lIns="0" tIns="0" rIns="0" bIns="0" rtlCol="0" anchor="ctr"/>
          <a:lstStyle/>
          <a:p>
            <a:pPr indent="0" marL="0">
              <a:buNone/>
            </a:pPr>
            <a:r>
              <a:rPr lang="en-US" sz="950" b="1" dirty="0">
                <a:solidFill>
                  <a:srgbClr val="B71C1C"/>
                </a:solidFill>
              </a:rPr>
              <a:t>影響範囲：</a:t>
            </a:r>
            <a:pPr indent="0" marL="0">
              <a:buNone/>
            </a:pPr>
            <a:r>
              <a:rPr lang="en-US" sz="950" dirty="0">
                <a:solidFill>
                  <a:srgbClr val="222222"/>
                </a:solidFill>
              </a:rPr>
              <a:t>#76 60件（出荷完了メール未送信・配送番号不明） ／ #77 24件（同左、東京ソワール様案件）</a:t>
            </a:r>
            <a:endParaRPr lang="en-US" sz="950" dirty="0"/>
          </a:p>
        </p:txBody>
      </p:sp>
      <p:sp>
        <p:nvSpPr>
          <p:cNvPr id="8" name="Shape 6"/>
          <p:cNvSpPr/>
          <p:nvPr/>
        </p:nvSpPr>
        <p:spPr>
          <a:xfrm>
            <a:off x="457200" y="1572768"/>
            <a:ext cx="8229600" cy="868680"/>
          </a:xfrm>
          <a:prstGeom prst="rect">
            <a:avLst/>
          </a:prstGeom>
          <a:solidFill>
            <a:srgbClr val="F4F4F4"/>
          </a:solidFill>
          <a:ln w="12700">
            <a:solidFill>
              <a:srgbClr val="F4F4F4"/>
            </a:solidFill>
            <a:prstDash val="solid"/>
          </a:ln>
        </p:spPr>
      </p:sp>
      <p:sp>
        <p:nvSpPr>
          <p:cNvPr id="9" name="Text 7"/>
          <p:cNvSpPr txBox="1"/>
          <p:nvPr/>
        </p:nvSpPr>
        <p:spPr>
          <a:xfrm>
            <a:off x="548640" y="16093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原因</a:t>
            </a:r>
            <a:endParaRPr lang="en-US" sz="850" dirty="0"/>
          </a:p>
        </p:txBody>
      </p:sp>
      <p:sp>
        <p:nvSpPr>
          <p:cNvPr id="10" name="Text 8"/>
          <p:cNvSpPr txBox="1"/>
          <p:nvPr/>
        </p:nvSpPr>
        <p:spPr>
          <a:xfrm>
            <a:off x="548640" y="1810512"/>
            <a:ext cx="8046720" cy="594360"/>
          </a:xfrm>
          <a:prstGeom prst="rect">
            <a:avLst/>
          </a:prstGeom>
          <a:noFill/>
          <a:ln/>
        </p:spPr>
        <p:txBody>
          <a:bodyPr wrap="square" lIns="0" tIns="0" rIns="0" bIns="0" rtlCol="0" anchor="t"/>
          <a:lstStyle/>
          <a:p>
            <a:pPr indent="0" marL="0">
              <a:buNone/>
            </a:pPr>
            <a:r>
              <a:rPr lang="en-US" sz="850" dirty="0">
                <a:solidFill>
                  <a:srgbClr val="222222"/>
                </a:solidFill>
              </a:rPr>
              <a:t>OAK物流（春日部拠点）の出荷締め作業漏れ。2021年（#9）・2023年（#39,#40）にも同型が発生し、毎回「担当者を決める」「管理者が確認する」という人の確認を強化する対策で対処してきた。</a:t>
            </a:r>
            <a:endParaRPr lang="en-US" sz="850" dirty="0"/>
          </a:p>
        </p:txBody>
      </p:sp>
      <p:sp>
        <p:nvSpPr>
          <p:cNvPr id="11" name="Shape 9"/>
          <p:cNvSpPr/>
          <p:nvPr/>
        </p:nvSpPr>
        <p:spPr>
          <a:xfrm>
            <a:off x="457200" y="2487168"/>
            <a:ext cx="8229600" cy="868680"/>
          </a:xfrm>
          <a:prstGeom prst="rect">
            <a:avLst/>
          </a:prstGeom>
          <a:solidFill>
            <a:srgbClr val="F4F4F4"/>
          </a:solidFill>
          <a:ln w="12700">
            <a:solidFill>
              <a:srgbClr val="F4F4F4"/>
            </a:solidFill>
            <a:prstDash val="solid"/>
          </a:ln>
        </p:spPr>
      </p:sp>
      <p:sp>
        <p:nvSpPr>
          <p:cNvPr id="12" name="Text 10"/>
          <p:cNvSpPr txBox="1"/>
          <p:nvPr/>
        </p:nvSpPr>
        <p:spPr>
          <a:xfrm>
            <a:off x="548640" y="25237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対策案（恒久対応）</a:t>
            </a:r>
            <a:endParaRPr lang="en-US" sz="850" dirty="0"/>
          </a:p>
        </p:txBody>
      </p:sp>
      <p:sp>
        <p:nvSpPr>
          <p:cNvPr id="13" name="Text 11"/>
          <p:cNvSpPr txBox="1"/>
          <p:nvPr/>
        </p:nvSpPr>
        <p:spPr>
          <a:xfrm>
            <a:off x="548640" y="2724912"/>
            <a:ext cx="8046720" cy="594360"/>
          </a:xfrm>
          <a:prstGeom prst="rect">
            <a:avLst/>
          </a:prstGeom>
          <a:noFill/>
          <a:ln/>
        </p:spPr>
        <p:txBody>
          <a:bodyPr wrap="square" lIns="0" tIns="0" rIns="0" bIns="0" rtlCol="0" anchor="t"/>
          <a:lstStyle/>
          <a:p>
            <a:pPr indent="0" marL="0">
              <a:buNone/>
            </a:pPr>
            <a:r>
              <a:rPr lang="en-US" sz="850" dirty="0">
                <a:solidFill>
                  <a:srgbClr val="222222"/>
                </a:solidFill>
              </a:rPr>
              <a:t>#76：OAK物流側で毎日17時にアラーム設定、締め完了後にSlackへ完了報告、SCMも18時までに連絡がなければ確認。 #77：出荷締めの実施有無を日次で確認するSlack通知を導入し、通知スレッドへ完了報告を行う運用。</a:t>
            </a:r>
            <a:endParaRPr lang="en-US" sz="850" dirty="0"/>
          </a:p>
        </p:txBody>
      </p:sp>
      <p:sp>
        <p:nvSpPr>
          <p:cNvPr id="14" name="Shape 12"/>
          <p:cNvSpPr/>
          <p:nvPr/>
        </p:nvSpPr>
        <p:spPr>
          <a:xfrm>
            <a:off x="457200" y="3401568"/>
            <a:ext cx="8229600" cy="1097280"/>
          </a:xfrm>
          <a:prstGeom prst="rect">
            <a:avLst/>
          </a:prstGeom>
          <a:solidFill>
            <a:srgbClr val="F4F4F4"/>
          </a:solidFill>
          <a:ln w="12700">
            <a:solidFill>
              <a:srgbClr val="F4F4F4"/>
            </a:solidFill>
            <a:prstDash val="solid"/>
          </a:ln>
        </p:spPr>
      </p:sp>
      <p:sp>
        <p:nvSpPr>
          <p:cNvPr id="15" name="Text 13"/>
          <p:cNvSpPr txBox="1"/>
          <p:nvPr/>
        </p:nvSpPr>
        <p:spPr>
          <a:xfrm>
            <a:off x="548640" y="34381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実施確認の方法／状況</a:t>
            </a:r>
            <a:endParaRPr lang="en-US" sz="850" dirty="0"/>
          </a:p>
        </p:txBody>
      </p:sp>
      <p:sp>
        <p:nvSpPr>
          <p:cNvPr id="16" name="Text 14"/>
          <p:cNvSpPr txBox="1"/>
          <p:nvPr/>
        </p:nvSpPr>
        <p:spPr>
          <a:xfrm>
            <a:off x="548640" y="3639312"/>
            <a:ext cx="8046720" cy="822960"/>
          </a:xfrm>
          <a:prstGeom prst="rect">
            <a:avLst/>
          </a:prstGeom>
          <a:noFill/>
          <a:ln/>
        </p:spPr>
        <p:txBody>
          <a:bodyPr wrap="square" lIns="0" tIns="0" rIns="0" bIns="0" rtlCol="0" anchor="t"/>
          <a:lstStyle/>
          <a:p>
            <a:pPr indent="0" marL="0">
              <a:buNone/>
            </a:pPr>
            <a:r>
              <a:rPr lang="en-US" sz="850" dirty="0">
                <a:solidFill>
                  <a:srgbClr val="222222"/>
                </a:solidFill>
              </a:rPr>
              <a:t>・Slack通知の実物と直近2週間の完了報告実績、未報告時にSCM側がフォローした記録を確認</a:t>
            </a:r>
            <a:endParaRPr lang="en-US" sz="850" dirty="0"/>
          </a:p>
          <a:p>
            <a:pPr indent="0" marL="0">
              <a:buNone/>
            </a:pPr>
            <a:r>
              <a:rPr lang="en-US" sz="850" dirty="0">
                <a:solidFill>
                  <a:srgbClr val="222222"/>
                </a:solidFill>
              </a:rPr>
              <a:t>・2件とも承認日・完了予定日・完了日なし（承認者ash／icchi）</a:t>
            </a:r>
            <a:endParaRPr lang="en-US" sz="850" dirty="0"/>
          </a:p>
          <a:p>
            <a:pPr indent="0" marL="0">
              <a:buNone/>
            </a:pPr>
            <a:r>
              <a:rPr lang="en-US" sz="850" dirty="0">
                <a:solidFill>
                  <a:srgbClr val="222222"/>
                </a:solidFill>
              </a:rPr>
              <a:t>・「bridge未使用でシステム検知は困難」とされる点について、恒久的な検知手段（締め未実施の自動検知）の検討状況を確認</a:t>
            </a:r>
            <a:endParaRPr lang="en-US" sz="850" dirty="0"/>
          </a:p>
        </p:txBody>
      </p:sp>
      <p:sp>
        <p:nvSpPr>
          <p:cNvPr id="17" name="Text 15"/>
          <p:cNvSpPr txBox="1"/>
          <p:nvPr/>
        </p:nvSpPr>
        <p:spPr>
          <a:xfrm>
            <a:off x="457200" y="4544568"/>
            <a:ext cx="8229600" cy="228600"/>
          </a:xfrm>
          <a:prstGeom prst="rect">
            <a:avLst/>
          </a:prstGeom>
          <a:noFill/>
          <a:ln/>
        </p:spPr>
        <p:txBody>
          <a:bodyPr wrap="square" lIns="0" tIns="0" rIns="0" bIns="0" rtlCol="0" anchor="ctr"/>
          <a:lstStyle/>
          <a:p>
            <a:pPr indent="0" marL="0">
              <a:buNone/>
            </a:pPr>
            <a:r>
              <a:rPr lang="en-US" sz="800" dirty="0">
                <a:solidFill>
                  <a:srgbClr val="616161"/>
                </a:solidFill>
              </a:rPr>
              <a:t>※ 人の注意に依存した対策が5年間繰り返されてきた典型例。通知の自動化が今回ようやく登場したが、稼働しているかが鍵</a:t>
            </a:r>
            <a:endParaRPr lang="en-US" sz="800" dirty="0"/>
          </a:p>
        </p:txBody>
      </p:sp>
      <p:sp>
        <p:nvSpPr>
          <p:cNvPr id="18"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indent="0" marL="0">
              <a:buNone/>
            </a:pP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CASE STUDY（レベル3）</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事例③：事後稟議が繰り返し発生（契約管理の仕組み不足）</a:t>
            </a:r>
            <a:endParaRPr lang="en-US" sz="1800" dirty="0"/>
          </a:p>
        </p:txBody>
      </p:sp>
      <p:sp>
        <p:nvSpPr>
          <p:cNvPr id="4" name="Text 2"/>
          <p:cNvSpPr txBox="1"/>
          <p:nvPr/>
        </p:nvSpPr>
        <p:spPr>
          <a:xfrm>
            <a:off x="457200" y="987552"/>
            <a:ext cx="6035040" cy="228600"/>
          </a:xfrm>
          <a:prstGeom prst="rect">
            <a:avLst/>
          </a:prstGeom>
          <a:noFill/>
          <a:ln/>
        </p:spPr>
        <p:txBody>
          <a:bodyPr wrap="square" lIns="0" tIns="0" rIns="0" bIns="0" rtlCol="0" anchor="ctr"/>
          <a:lstStyle/>
          <a:p>
            <a:pPr indent="0" marL="0">
              <a:buNone/>
            </a:pPr>
            <a:r>
              <a:rPr lang="en-US" sz="900" dirty="0">
                <a:solidFill>
                  <a:srgbClr val="616161"/>
                </a:solidFill>
              </a:rPr>
              <a:t>SCMG / #54 発見日：2024/3/1 ・ #64 発見日：2025/2/19 / いずれもレベル3・業務起因_ルール不足</a:t>
            </a:r>
            <a:endParaRPr lang="en-US" sz="900" dirty="0"/>
          </a:p>
        </p:txBody>
      </p:sp>
      <p:sp>
        <p:nvSpPr>
          <p:cNvPr id="5" name="Shape 3"/>
          <p:cNvSpPr/>
          <p:nvPr/>
        </p:nvSpPr>
        <p:spPr>
          <a:xfrm>
            <a:off x="6583680" y="960120"/>
            <a:ext cx="2103120" cy="274320"/>
          </a:xfrm>
          <a:prstGeom prst="roundRect">
            <a:avLst>
              <a:gd name="adj" fmla="val 26667"/>
            </a:avLst>
          </a:prstGeom>
          <a:solidFill>
            <a:srgbClr val="FBC02D"/>
          </a:solidFill>
          <a:ln w="12700">
            <a:solidFill>
              <a:srgbClr val="FBC02D"/>
            </a:solidFill>
            <a:prstDash val="solid"/>
          </a:ln>
        </p:spPr>
      </p:sp>
      <p:sp>
        <p:nvSpPr>
          <p:cNvPr id="6" name="Text 4"/>
          <p:cNvSpPr txBox="1"/>
          <p:nvPr/>
        </p:nvSpPr>
        <p:spPr>
          <a:xfrm>
            <a:off x="6583680" y="960120"/>
            <a:ext cx="2103120" cy="274320"/>
          </a:xfrm>
          <a:prstGeom prst="rect">
            <a:avLst/>
          </a:prstGeom>
          <a:noFill/>
          <a:ln/>
        </p:spPr>
        <p:txBody>
          <a:bodyPr wrap="square" lIns="0" tIns="0" rIns="0" bIns="0" rtlCol="0" anchor="ctr"/>
          <a:lstStyle/>
          <a:p>
            <a:pPr algn="ctr" indent="0" marL="0">
              <a:buNone/>
            </a:pPr>
            <a:r>
              <a:rPr lang="en-US" sz="850" b="1" dirty="0">
                <a:solidFill>
                  <a:srgbClr val="FFFFFF"/>
                </a:solidFill>
              </a:rPr>
              <a:t>期限超過・未完了</a:t>
            </a:r>
            <a:endParaRPr lang="en-US" sz="850" dirty="0"/>
          </a:p>
        </p:txBody>
      </p:sp>
      <p:sp>
        <p:nvSpPr>
          <p:cNvPr id="7" name="Text 5"/>
          <p:cNvSpPr txBox="1"/>
          <p:nvPr/>
        </p:nvSpPr>
        <p:spPr>
          <a:xfrm>
            <a:off x="457200" y="1243584"/>
            <a:ext cx="8229600" cy="274320"/>
          </a:xfrm>
          <a:prstGeom prst="rect">
            <a:avLst/>
          </a:prstGeom>
          <a:noFill/>
          <a:ln/>
        </p:spPr>
        <p:txBody>
          <a:bodyPr wrap="square" lIns="0" tIns="0" rIns="0" bIns="0" rtlCol="0" anchor="ctr"/>
          <a:lstStyle/>
          <a:p>
            <a:pPr indent="0" marL="0">
              <a:buNone/>
            </a:pPr>
            <a:r>
              <a:rPr lang="en-US" sz="950" b="1" dirty="0">
                <a:solidFill>
                  <a:srgbClr val="B71C1C"/>
                </a:solidFill>
              </a:rPr>
              <a:t>影響範囲：</a:t>
            </a:r>
            <a:pPr indent="0" marL="0">
              <a:buNone/>
            </a:pPr>
            <a:r>
              <a:rPr lang="en-US" sz="950" dirty="0">
                <a:solidFill>
                  <a:srgbClr val="222222"/>
                </a:solidFill>
              </a:rPr>
              <a:t>#54 反社チェック・NDA未了のまま「実施済」として契約書申請（GLP倉庫・仲介業者） ／ #64 流山ボイラー保守契約の事後締結</a:t>
            </a:r>
            <a:endParaRPr lang="en-US" sz="950" dirty="0"/>
          </a:p>
        </p:txBody>
      </p:sp>
      <p:sp>
        <p:nvSpPr>
          <p:cNvPr id="8" name="Shape 6"/>
          <p:cNvSpPr/>
          <p:nvPr/>
        </p:nvSpPr>
        <p:spPr>
          <a:xfrm>
            <a:off x="457200" y="1572768"/>
            <a:ext cx="8229600" cy="868680"/>
          </a:xfrm>
          <a:prstGeom prst="rect">
            <a:avLst/>
          </a:prstGeom>
          <a:solidFill>
            <a:srgbClr val="F4F4F4"/>
          </a:solidFill>
          <a:ln w="12700">
            <a:solidFill>
              <a:srgbClr val="F4F4F4"/>
            </a:solidFill>
            <a:prstDash val="solid"/>
          </a:ln>
        </p:spPr>
      </p:sp>
      <p:sp>
        <p:nvSpPr>
          <p:cNvPr id="9" name="Text 7"/>
          <p:cNvSpPr txBox="1"/>
          <p:nvPr/>
        </p:nvSpPr>
        <p:spPr>
          <a:xfrm>
            <a:off x="548640" y="16093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原因</a:t>
            </a:r>
            <a:endParaRPr lang="en-US" sz="850" dirty="0"/>
          </a:p>
        </p:txBody>
      </p:sp>
      <p:sp>
        <p:nvSpPr>
          <p:cNvPr id="10" name="Text 8"/>
          <p:cNvSpPr txBox="1"/>
          <p:nvPr/>
        </p:nvSpPr>
        <p:spPr>
          <a:xfrm>
            <a:off x="548640" y="1810512"/>
            <a:ext cx="8046720" cy="594360"/>
          </a:xfrm>
          <a:prstGeom prst="rect">
            <a:avLst/>
          </a:prstGeom>
          <a:noFill/>
          <a:ln/>
        </p:spPr>
        <p:txBody>
          <a:bodyPr wrap="square" lIns="0" tIns="0" rIns="0" bIns="0" rtlCol="0" anchor="t"/>
          <a:lstStyle/>
          <a:p>
            <a:pPr indent="0" marL="0">
              <a:buNone/>
            </a:pPr>
            <a:r>
              <a:rPr lang="en-US" sz="850" dirty="0">
                <a:solidFill>
                  <a:srgbClr val="222222"/>
                </a:solidFill>
              </a:rPr>
              <a:t>倉庫移転など契約が集中する局面で、契約の全体像を把握する担当・一覧がなく、期日確認が個人の認識任せになっていた。2023/10（#44 不入流解約合意書）を含めると3回目。</a:t>
            </a:r>
            <a:endParaRPr lang="en-US" sz="850" dirty="0"/>
          </a:p>
        </p:txBody>
      </p:sp>
      <p:sp>
        <p:nvSpPr>
          <p:cNvPr id="11" name="Shape 9"/>
          <p:cNvSpPr/>
          <p:nvPr/>
        </p:nvSpPr>
        <p:spPr>
          <a:xfrm>
            <a:off x="457200" y="2487168"/>
            <a:ext cx="8229600" cy="868680"/>
          </a:xfrm>
          <a:prstGeom prst="rect">
            <a:avLst/>
          </a:prstGeom>
          <a:solidFill>
            <a:srgbClr val="F4F4F4"/>
          </a:solidFill>
          <a:ln w="12700">
            <a:solidFill>
              <a:srgbClr val="F4F4F4"/>
            </a:solidFill>
            <a:prstDash val="solid"/>
          </a:ln>
        </p:spPr>
      </p:sp>
      <p:sp>
        <p:nvSpPr>
          <p:cNvPr id="12" name="Text 10"/>
          <p:cNvSpPr txBox="1"/>
          <p:nvPr/>
        </p:nvSpPr>
        <p:spPr>
          <a:xfrm>
            <a:off x="548640" y="25237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対策案（恒久対応）</a:t>
            </a:r>
            <a:endParaRPr lang="en-US" sz="850" dirty="0"/>
          </a:p>
        </p:txBody>
      </p:sp>
      <p:sp>
        <p:nvSpPr>
          <p:cNvPr id="13" name="Text 11"/>
          <p:cNvSpPr txBox="1"/>
          <p:nvPr/>
        </p:nvSpPr>
        <p:spPr>
          <a:xfrm>
            <a:off x="548640" y="2724912"/>
            <a:ext cx="8046720" cy="594360"/>
          </a:xfrm>
          <a:prstGeom prst="rect">
            <a:avLst/>
          </a:prstGeom>
          <a:noFill/>
          <a:ln/>
        </p:spPr>
        <p:txBody>
          <a:bodyPr wrap="square" lIns="0" tIns="0" rIns="0" bIns="0" rtlCol="0" anchor="t"/>
          <a:lstStyle/>
          <a:p>
            <a:pPr indent="0" marL="0">
              <a:buNone/>
            </a:pPr>
            <a:r>
              <a:rPr lang="en-US" sz="850" dirty="0">
                <a:solidFill>
                  <a:srgbClr val="222222"/>
                </a:solidFill>
              </a:rPr>
              <a:t>#54：新規コンタクト時点で反社チェックを申請、仲介でもNDA・反社チェックを実施するルール化、WBS・アタックリストにチェック項目を追加。 #64：契約関係の一元管理ファイルを作成し、契約書担当者を置いてヌケモレを防ぐ（春日部移転を想定）。</a:t>
            </a:r>
            <a:endParaRPr lang="en-US" sz="850" dirty="0"/>
          </a:p>
        </p:txBody>
      </p:sp>
      <p:sp>
        <p:nvSpPr>
          <p:cNvPr id="14" name="Shape 12"/>
          <p:cNvSpPr/>
          <p:nvPr/>
        </p:nvSpPr>
        <p:spPr>
          <a:xfrm>
            <a:off x="457200" y="3401568"/>
            <a:ext cx="8229600" cy="1097280"/>
          </a:xfrm>
          <a:prstGeom prst="rect">
            <a:avLst/>
          </a:prstGeom>
          <a:solidFill>
            <a:srgbClr val="F4F4F4"/>
          </a:solidFill>
          <a:ln w="12700">
            <a:solidFill>
              <a:srgbClr val="F4F4F4"/>
            </a:solidFill>
            <a:prstDash val="solid"/>
          </a:ln>
        </p:spPr>
      </p:sp>
      <p:sp>
        <p:nvSpPr>
          <p:cNvPr id="15" name="Text 13"/>
          <p:cNvSpPr txBox="1"/>
          <p:nvPr/>
        </p:nvSpPr>
        <p:spPr>
          <a:xfrm>
            <a:off x="548640" y="34381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実施確認の方法／状況</a:t>
            </a:r>
            <a:endParaRPr lang="en-US" sz="850" dirty="0"/>
          </a:p>
        </p:txBody>
      </p:sp>
      <p:sp>
        <p:nvSpPr>
          <p:cNvPr id="16" name="Text 14"/>
          <p:cNvSpPr txBox="1"/>
          <p:nvPr/>
        </p:nvSpPr>
        <p:spPr>
          <a:xfrm>
            <a:off x="548640" y="3639312"/>
            <a:ext cx="8046720" cy="822960"/>
          </a:xfrm>
          <a:prstGeom prst="rect">
            <a:avLst/>
          </a:prstGeom>
          <a:noFill/>
          <a:ln/>
        </p:spPr>
        <p:txBody>
          <a:bodyPr wrap="square" lIns="0" tIns="0" rIns="0" bIns="0" rtlCol="0" anchor="t"/>
          <a:lstStyle/>
          <a:p>
            <a:pPr indent="0" marL="0">
              <a:buNone/>
            </a:pPr>
            <a:r>
              <a:rPr lang="en-US" sz="850" dirty="0">
                <a:solidFill>
                  <a:srgbClr val="222222"/>
                </a:solidFill>
              </a:rPr>
              <a:t>・契約一元管理ファイルの現物・更新日、契約担当者、春日部移転に伴う契約一覧を確認</a:t>
            </a:r>
            <a:endParaRPr lang="en-US" sz="850" dirty="0"/>
          </a:p>
          <a:p>
            <a:pPr indent="0" marL="0">
              <a:buNone/>
            </a:pPr>
            <a:r>
              <a:rPr lang="en-US" sz="850" dirty="0">
                <a:solidFill>
                  <a:srgbClr val="222222"/>
                </a:solidFill>
              </a:rPr>
              <a:t>・#54は承認2024/3/6・完了予定2024/3/6に対し完了日なし。#64は承認者mashのみで承認日・期限とも未設定</a:t>
            </a:r>
            <a:endParaRPr lang="en-US" sz="850" dirty="0"/>
          </a:p>
          <a:p>
            <a:pPr indent="0" marL="0">
              <a:buNone/>
            </a:pPr>
            <a:r>
              <a:rPr lang="en-US" sz="850" dirty="0">
                <a:solidFill>
                  <a:srgbClr val="222222"/>
                </a:solidFill>
              </a:rPr>
              <a:t>・2026年に新たな事後稟議が発生していないか、ADO側の事後稟議記録と突合</a:t>
            </a:r>
            <a:endParaRPr lang="en-US" sz="850" dirty="0"/>
          </a:p>
        </p:txBody>
      </p:sp>
      <p:sp>
        <p:nvSpPr>
          <p:cNvPr id="17" name="Text 15"/>
          <p:cNvSpPr txBox="1"/>
          <p:nvPr/>
        </p:nvSpPr>
        <p:spPr>
          <a:xfrm>
            <a:off x="457200" y="4544568"/>
            <a:ext cx="8229600" cy="228600"/>
          </a:xfrm>
          <a:prstGeom prst="rect">
            <a:avLst/>
          </a:prstGeom>
          <a:noFill/>
          <a:ln/>
        </p:spPr>
        <p:txBody>
          <a:bodyPr wrap="square" lIns="0" tIns="0" rIns="0" bIns="0" rtlCol="0" anchor="ctr"/>
          <a:lstStyle/>
          <a:p>
            <a:pPr indent="0" marL="0">
              <a:buNone/>
            </a:pPr>
            <a:r>
              <a:rPr lang="en-US" sz="800" dirty="0">
                <a:solidFill>
                  <a:srgbClr val="616161"/>
                </a:solidFill>
              </a:rPr>
              <a:t>※ 固定設問No.10・11（新規取引申請・事後稟議の禁止）の評価に直結。GRGでも事後稟議が発生しており全社論点</a:t>
            </a:r>
            <a:endParaRPr lang="en-US" sz="800" dirty="0"/>
          </a:p>
        </p:txBody>
      </p:sp>
      <p:sp>
        <p:nvSpPr>
          <p:cNvPr id="18"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indent="0" marL="0">
              <a:buNone/>
            </a:pP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CASE STUDY（レベル3）</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事例④：同梱物の指示・期日管理（仕組みの外側で再発）</a:t>
            </a:r>
            <a:endParaRPr lang="en-US" sz="1800" dirty="0"/>
          </a:p>
        </p:txBody>
      </p:sp>
      <p:sp>
        <p:nvSpPr>
          <p:cNvPr id="4" name="Text 2"/>
          <p:cNvSpPr txBox="1"/>
          <p:nvPr/>
        </p:nvSpPr>
        <p:spPr>
          <a:xfrm>
            <a:off x="457200" y="987552"/>
            <a:ext cx="6035040" cy="228600"/>
          </a:xfrm>
          <a:prstGeom prst="rect">
            <a:avLst/>
          </a:prstGeom>
          <a:noFill/>
          <a:ln/>
        </p:spPr>
        <p:txBody>
          <a:bodyPr wrap="square" lIns="0" tIns="0" rIns="0" bIns="0" rtlCol="0" anchor="ctr"/>
          <a:lstStyle/>
          <a:p>
            <a:pPr indent="0" marL="0">
              <a:buNone/>
            </a:pPr>
            <a:r>
              <a:rPr lang="en-US" sz="900" dirty="0">
                <a:solidFill>
                  <a:srgbClr val="616161"/>
                </a:solidFill>
              </a:rPr>
              <a:t>SCMG / #53 発見日：2024/2/8（285名）・ #68 発見日：2025/8/4（2,853名）/ いずれもレベル3</a:t>
            </a:r>
            <a:endParaRPr lang="en-US" sz="900" dirty="0"/>
          </a:p>
        </p:txBody>
      </p:sp>
      <p:sp>
        <p:nvSpPr>
          <p:cNvPr id="5" name="Shape 3"/>
          <p:cNvSpPr/>
          <p:nvPr/>
        </p:nvSpPr>
        <p:spPr>
          <a:xfrm>
            <a:off x="6583680" y="960120"/>
            <a:ext cx="2103120" cy="274320"/>
          </a:xfrm>
          <a:prstGeom prst="roundRect">
            <a:avLst>
              <a:gd name="adj" fmla="val 26667"/>
            </a:avLst>
          </a:prstGeom>
          <a:solidFill>
            <a:srgbClr val="FBC02D"/>
          </a:solidFill>
          <a:ln w="12700">
            <a:solidFill>
              <a:srgbClr val="FBC02D"/>
            </a:solidFill>
            <a:prstDash val="solid"/>
          </a:ln>
        </p:spPr>
      </p:sp>
      <p:sp>
        <p:nvSpPr>
          <p:cNvPr id="6" name="Text 4"/>
          <p:cNvSpPr txBox="1"/>
          <p:nvPr/>
        </p:nvSpPr>
        <p:spPr>
          <a:xfrm>
            <a:off x="6583680" y="960120"/>
            <a:ext cx="2103120" cy="274320"/>
          </a:xfrm>
          <a:prstGeom prst="rect">
            <a:avLst/>
          </a:prstGeom>
          <a:noFill/>
          <a:ln/>
        </p:spPr>
        <p:txBody>
          <a:bodyPr wrap="square" lIns="0" tIns="0" rIns="0" bIns="0" rtlCol="0" anchor="ctr"/>
          <a:lstStyle/>
          <a:p>
            <a:pPr algn="ctr" indent="0" marL="0">
              <a:buNone/>
            </a:pPr>
            <a:r>
              <a:rPr lang="en-US" sz="850" b="1" dirty="0">
                <a:solidFill>
                  <a:srgbClr val="FFFFFF"/>
                </a:solidFill>
              </a:rPr>
              <a:t>一部実施・期日管理が未達</a:t>
            </a:r>
            <a:endParaRPr lang="en-US" sz="850" dirty="0"/>
          </a:p>
        </p:txBody>
      </p:sp>
      <p:sp>
        <p:nvSpPr>
          <p:cNvPr id="7" name="Text 5"/>
          <p:cNvSpPr txBox="1"/>
          <p:nvPr/>
        </p:nvSpPr>
        <p:spPr>
          <a:xfrm>
            <a:off x="457200" y="1243584"/>
            <a:ext cx="8229600" cy="274320"/>
          </a:xfrm>
          <a:prstGeom prst="rect">
            <a:avLst/>
          </a:prstGeom>
          <a:noFill/>
          <a:ln/>
        </p:spPr>
        <p:txBody>
          <a:bodyPr wrap="square" lIns="0" tIns="0" rIns="0" bIns="0" rtlCol="0" anchor="ctr"/>
          <a:lstStyle/>
          <a:p>
            <a:pPr indent="0" marL="0">
              <a:buNone/>
            </a:pPr>
            <a:r>
              <a:rPr lang="en-US" sz="950" b="1" dirty="0">
                <a:solidFill>
                  <a:srgbClr val="B71C1C"/>
                </a:solidFill>
              </a:rPr>
              <a:t>影響範囲：</a:t>
            </a:r>
            <a:pPr indent="0" marL="0">
              <a:buNone/>
            </a:pPr>
            <a:r>
              <a:rPr lang="en-US" sz="950" dirty="0">
                <a:solidFill>
                  <a:srgbClr val="222222"/>
                </a:solidFill>
              </a:rPr>
              <a:t>#53 新規会員285名にコンセプトブックが同梱されず ／ #68 期限切れの友達紹介DMを2,853名に同梱（うち771名は期間外）</a:t>
            </a:r>
            <a:endParaRPr lang="en-US" sz="950" dirty="0"/>
          </a:p>
        </p:txBody>
      </p:sp>
      <p:sp>
        <p:nvSpPr>
          <p:cNvPr id="8" name="Shape 6"/>
          <p:cNvSpPr/>
          <p:nvPr/>
        </p:nvSpPr>
        <p:spPr>
          <a:xfrm>
            <a:off x="457200" y="1572768"/>
            <a:ext cx="8229600" cy="868680"/>
          </a:xfrm>
          <a:prstGeom prst="rect">
            <a:avLst/>
          </a:prstGeom>
          <a:solidFill>
            <a:srgbClr val="F4F4F4"/>
          </a:solidFill>
          <a:ln w="12700">
            <a:solidFill>
              <a:srgbClr val="F4F4F4"/>
            </a:solidFill>
            <a:prstDash val="solid"/>
          </a:ln>
        </p:spPr>
      </p:sp>
      <p:sp>
        <p:nvSpPr>
          <p:cNvPr id="9" name="Text 7"/>
          <p:cNvSpPr txBox="1"/>
          <p:nvPr/>
        </p:nvSpPr>
        <p:spPr>
          <a:xfrm>
            <a:off x="548640" y="16093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原因</a:t>
            </a:r>
            <a:endParaRPr lang="en-US" sz="850" dirty="0"/>
          </a:p>
        </p:txBody>
      </p:sp>
      <p:sp>
        <p:nvSpPr>
          <p:cNvPr id="10" name="Text 8"/>
          <p:cNvSpPr txBox="1"/>
          <p:nvPr/>
        </p:nvSpPr>
        <p:spPr>
          <a:xfrm>
            <a:off x="548640" y="1810512"/>
            <a:ext cx="8046720" cy="594360"/>
          </a:xfrm>
          <a:prstGeom prst="rect">
            <a:avLst/>
          </a:prstGeom>
          <a:noFill/>
          <a:ln/>
        </p:spPr>
        <p:txBody>
          <a:bodyPr wrap="square" lIns="0" tIns="0" rIns="0" bIns="0" rtlCol="0" anchor="t"/>
          <a:lstStyle/>
          <a:p>
            <a:pPr indent="0" marL="0">
              <a:buNone/>
            </a:pPr>
            <a:r>
              <a:rPr lang="en-US" sz="850" dirty="0">
                <a:solidFill>
                  <a:srgbClr val="222222"/>
                </a:solidFill>
              </a:rPr>
              <a:t>#53：口頭指示で同梱内容を誤認し、正しさを確認する仕組みがなかった。 #68：#53で作った同梱依頼シートは機能していたが、担当者が同梱終了期日を見落とし、「自動で停止するもの」と誤認識していた。</a:t>
            </a:r>
            <a:endParaRPr lang="en-US" sz="850" dirty="0"/>
          </a:p>
        </p:txBody>
      </p:sp>
      <p:sp>
        <p:nvSpPr>
          <p:cNvPr id="11" name="Shape 9"/>
          <p:cNvSpPr/>
          <p:nvPr/>
        </p:nvSpPr>
        <p:spPr>
          <a:xfrm>
            <a:off x="457200" y="2487168"/>
            <a:ext cx="8229600" cy="868680"/>
          </a:xfrm>
          <a:prstGeom prst="rect">
            <a:avLst/>
          </a:prstGeom>
          <a:solidFill>
            <a:srgbClr val="F4F4F4"/>
          </a:solidFill>
          <a:ln w="12700">
            <a:solidFill>
              <a:srgbClr val="F4F4F4"/>
            </a:solidFill>
            <a:prstDash val="solid"/>
          </a:ln>
        </p:spPr>
      </p:sp>
      <p:sp>
        <p:nvSpPr>
          <p:cNvPr id="12" name="Text 10"/>
          <p:cNvSpPr txBox="1"/>
          <p:nvPr/>
        </p:nvSpPr>
        <p:spPr>
          <a:xfrm>
            <a:off x="548640" y="25237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対策案（恒久対応）</a:t>
            </a:r>
            <a:endParaRPr lang="en-US" sz="850" dirty="0"/>
          </a:p>
        </p:txBody>
      </p:sp>
      <p:sp>
        <p:nvSpPr>
          <p:cNvPr id="13" name="Text 11"/>
          <p:cNvSpPr txBox="1"/>
          <p:nvPr/>
        </p:nvSpPr>
        <p:spPr>
          <a:xfrm>
            <a:off x="548640" y="2724912"/>
            <a:ext cx="8046720" cy="594360"/>
          </a:xfrm>
          <a:prstGeom prst="rect">
            <a:avLst/>
          </a:prstGeom>
          <a:noFill/>
          <a:ln/>
        </p:spPr>
        <p:txBody>
          <a:bodyPr wrap="square" lIns="0" tIns="0" rIns="0" bIns="0" rtlCol="0" anchor="t"/>
          <a:lstStyle/>
          <a:p>
            <a:pPr indent="0" marL="0">
              <a:buNone/>
            </a:pPr>
            <a:r>
              <a:rPr lang="en-US" sz="850" dirty="0">
                <a:solidFill>
                  <a:srgbClr val="222222"/>
                </a:solidFill>
              </a:rPr>
              <a:t>#53：同梱依頼シート＋確認者SCM2名のフローに変更（承認ash 2024/2/16・完了2024/2/16）。 #68：依頼入力の時点で期日アラートを自動化し、担当者不在でも現場に共有される場で通知して計画どおり停止できるようにする（属人化の排除）。</a:t>
            </a:r>
            <a:endParaRPr lang="en-US" sz="850" dirty="0"/>
          </a:p>
        </p:txBody>
      </p:sp>
      <p:sp>
        <p:nvSpPr>
          <p:cNvPr id="14" name="Shape 12"/>
          <p:cNvSpPr/>
          <p:nvPr/>
        </p:nvSpPr>
        <p:spPr>
          <a:xfrm>
            <a:off x="457200" y="3401568"/>
            <a:ext cx="8229600" cy="1097280"/>
          </a:xfrm>
          <a:prstGeom prst="rect">
            <a:avLst/>
          </a:prstGeom>
          <a:solidFill>
            <a:srgbClr val="F4F4F4"/>
          </a:solidFill>
          <a:ln w="12700">
            <a:solidFill>
              <a:srgbClr val="F4F4F4"/>
            </a:solidFill>
            <a:prstDash val="solid"/>
          </a:ln>
        </p:spPr>
      </p:sp>
      <p:sp>
        <p:nvSpPr>
          <p:cNvPr id="15" name="Text 13"/>
          <p:cNvSpPr txBox="1"/>
          <p:nvPr/>
        </p:nvSpPr>
        <p:spPr>
          <a:xfrm>
            <a:off x="548640" y="34381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実施確認の方法／状況</a:t>
            </a:r>
            <a:endParaRPr lang="en-US" sz="850" dirty="0"/>
          </a:p>
        </p:txBody>
      </p:sp>
      <p:sp>
        <p:nvSpPr>
          <p:cNvPr id="16" name="Text 14"/>
          <p:cNvSpPr txBox="1"/>
          <p:nvPr/>
        </p:nvSpPr>
        <p:spPr>
          <a:xfrm>
            <a:off x="548640" y="3639312"/>
            <a:ext cx="8046720" cy="822960"/>
          </a:xfrm>
          <a:prstGeom prst="rect">
            <a:avLst/>
          </a:prstGeom>
          <a:noFill/>
          <a:ln/>
        </p:spPr>
        <p:txBody>
          <a:bodyPr wrap="square" lIns="0" tIns="0" rIns="0" bIns="0" rtlCol="0" anchor="t"/>
          <a:lstStyle/>
          <a:p>
            <a:pPr indent="0" marL="0">
              <a:buNone/>
            </a:pPr>
            <a:r>
              <a:rPr lang="en-US" sz="850" dirty="0">
                <a:solidFill>
                  <a:srgbClr val="222222"/>
                </a:solidFill>
              </a:rPr>
              <a:t>・同梱依頼シートの直近の運用実績（2名確認の記録）と、期日アラートの実装有無・通知先を現物で確認</a:t>
            </a:r>
            <a:endParaRPr lang="en-US" sz="850" dirty="0"/>
          </a:p>
          <a:p>
            <a:pPr indent="0" marL="0">
              <a:buNone/>
            </a:pPr>
            <a:r>
              <a:rPr lang="en-US" sz="850" dirty="0">
                <a:solidFill>
                  <a:srgbClr val="222222"/>
                </a:solidFill>
              </a:rPr>
              <a:t>・#68は承認者mashのみで承認日・完了予定日・完了日なし</a:t>
            </a:r>
            <a:endParaRPr lang="en-US" sz="850" dirty="0"/>
          </a:p>
          <a:p>
            <a:pPr indent="0" marL="0">
              <a:buNone/>
            </a:pPr>
            <a:r>
              <a:rPr lang="en-US" sz="850" dirty="0">
                <a:solidFill>
                  <a:srgbClr val="222222"/>
                </a:solidFill>
              </a:rPr>
              <a:t>・#53は完了済だが、人依存で残っていた「期日」部分で再発した構図。アラート導入後の再発有無を確認</a:t>
            </a:r>
            <a:endParaRPr lang="en-US" sz="850" dirty="0"/>
          </a:p>
        </p:txBody>
      </p:sp>
      <p:sp>
        <p:nvSpPr>
          <p:cNvPr id="17" name="Text 15"/>
          <p:cNvSpPr txBox="1"/>
          <p:nvPr/>
        </p:nvSpPr>
        <p:spPr>
          <a:xfrm>
            <a:off x="457200" y="4544568"/>
            <a:ext cx="8229600" cy="228600"/>
          </a:xfrm>
          <a:prstGeom prst="rect">
            <a:avLst/>
          </a:prstGeom>
          <a:noFill/>
          <a:ln/>
        </p:spPr>
        <p:txBody>
          <a:bodyPr wrap="square" lIns="0" tIns="0" rIns="0" bIns="0" rtlCol="0" anchor="ctr"/>
          <a:lstStyle/>
          <a:p>
            <a:pPr indent="0" marL="0">
              <a:buNone/>
            </a:pPr>
            <a:r>
              <a:rPr lang="en-US" sz="800" dirty="0">
                <a:solidFill>
                  <a:srgbClr val="616161"/>
                </a:solidFill>
              </a:rPr>
              <a:t>※ 「仕組みは作ったが、仕組みの外側（期日）で再発」した事例。対策の設計範囲が十分かという観点で確認</a:t>
            </a:r>
            <a:endParaRPr lang="en-US" sz="800" dirty="0"/>
          </a:p>
        </p:txBody>
      </p:sp>
      <p:sp>
        <p:nvSpPr>
          <p:cNvPr id="18"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indent="0" marL="0">
              <a:buNone/>
            </a:pP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CASE STUDY（レベル3）</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事例⑤：伝票同梱による個人情報流出（Mall）</a:t>
            </a:r>
            <a:endParaRPr lang="en-US" sz="1800" dirty="0"/>
          </a:p>
        </p:txBody>
      </p:sp>
      <p:sp>
        <p:nvSpPr>
          <p:cNvPr id="4" name="Text 2"/>
          <p:cNvSpPr txBox="1"/>
          <p:nvPr/>
        </p:nvSpPr>
        <p:spPr>
          <a:xfrm>
            <a:off x="457200" y="987552"/>
            <a:ext cx="6035040" cy="228600"/>
          </a:xfrm>
          <a:prstGeom prst="rect">
            <a:avLst/>
          </a:prstGeom>
          <a:noFill/>
          <a:ln/>
        </p:spPr>
        <p:txBody>
          <a:bodyPr wrap="square" lIns="0" tIns="0" rIns="0" bIns="0" rtlCol="0" anchor="ctr"/>
          <a:lstStyle/>
          <a:p>
            <a:pPr indent="0" marL="0">
              <a:buNone/>
            </a:pPr>
            <a:r>
              <a:rPr lang="en-US" sz="900" dirty="0">
                <a:solidFill>
                  <a:srgbClr val="616161"/>
                </a:solidFill>
              </a:rPr>
              <a:t>SCMG / #75 発生：2025/12/18 ・ 発見：2026/1/24 / レベル3・業務起因_作業起因</a:t>
            </a:r>
            <a:endParaRPr lang="en-US" sz="900" dirty="0"/>
          </a:p>
        </p:txBody>
      </p:sp>
      <p:sp>
        <p:nvSpPr>
          <p:cNvPr id="5" name="Shape 3"/>
          <p:cNvSpPr/>
          <p:nvPr/>
        </p:nvSpPr>
        <p:spPr>
          <a:xfrm>
            <a:off x="6583680" y="960120"/>
            <a:ext cx="2103120" cy="274320"/>
          </a:xfrm>
          <a:prstGeom prst="roundRect">
            <a:avLst>
              <a:gd name="adj" fmla="val 26667"/>
            </a:avLst>
          </a:prstGeom>
          <a:solidFill>
            <a:srgbClr val="388E3C"/>
          </a:solidFill>
          <a:ln w="12700">
            <a:solidFill>
              <a:srgbClr val="388E3C"/>
            </a:solidFill>
            <a:prstDash val="solid"/>
          </a:ln>
        </p:spPr>
      </p:sp>
      <p:sp>
        <p:nvSpPr>
          <p:cNvPr id="6" name="Text 4"/>
          <p:cNvSpPr txBox="1"/>
          <p:nvPr/>
        </p:nvSpPr>
        <p:spPr>
          <a:xfrm>
            <a:off x="6583680" y="960120"/>
            <a:ext cx="2103120" cy="274320"/>
          </a:xfrm>
          <a:prstGeom prst="rect">
            <a:avLst/>
          </a:prstGeom>
          <a:noFill/>
          <a:ln/>
        </p:spPr>
        <p:txBody>
          <a:bodyPr wrap="square" lIns="0" tIns="0" rIns="0" bIns="0" rtlCol="0" anchor="ctr"/>
          <a:lstStyle/>
          <a:p>
            <a:pPr algn="ctr" indent="0" marL="0">
              <a:buNone/>
            </a:pPr>
            <a:r>
              <a:rPr lang="en-US" sz="850" b="1" dirty="0">
                <a:solidFill>
                  <a:srgbClr val="FFFFFF"/>
                </a:solidFill>
              </a:rPr>
              <a:t>対応中（承認済・完了未記録）</a:t>
            </a:r>
            <a:endParaRPr lang="en-US" sz="850" dirty="0"/>
          </a:p>
        </p:txBody>
      </p:sp>
      <p:sp>
        <p:nvSpPr>
          <p:cNvPr id="7" name="Text 5"/>
          <p:cNvSpPr txBox="1"/>
          <p:nvPr/>
        </p:nvSpPr>
        <p:spPr>
          <a:xfrm>
            <a:off x="457200" y="1243584"/>
            <a:ext cx="8229600" cy="274320"/>
          </a:xfrm>
          <a:prstGeom prst="rect">
            <a:avLst/>
          </a:prstGeom>
          <a:noFill/>
          <a:ln/>
        </p:spPr>
        <p:txBody>
          <a:bodyPr wrap="square" lIns="0" tIns="0" rIns="0" bIns="0" rtlCol="0" anchor="ctr"/>
          <a:lstStyle/>
          <a:p>
            <a:pPr indent="0" marL="0">
              <a:buNone/>
            </a:pPr>
            <a:r>
              <a:rPr lang="en-US" sz="950" b="1" dirty="0">
                <a:solidFill>
                  <a:srgbClr val="B71C1C"/>
                </a:solidFill>
              </a:rPr>
              <a:t>影響範囲：</a:t>
            </a:r>
            <a:pPr indent="0" marL="0">
              <a:buNone/>
            </a:pPr>
            <a:r>
              <a:rPr lang="en-US" sz="950" dirty="0">
                <a:solidFill>
                  <a:srgbClr val="222222"/>
                </a:solidFill>
              </a:rPr>
              <a:t>2名（個人情報を流出させてしまったお客様と、受け取ったお客様）</a:t>
            </a:r>
            <a:endParaRPr lang="en-US" sz="950" dirty="0"/>
          </a:p>
        </p:txBody>
      </p:sp>
      <p:sp>
        <p:nvSpPr>
          <p:cNvPr id="8" name="Shape 6"/>
          <p:cNvSpPr/>
          <p:nvPr/>
        </p:nvSpPr>
        <p:spPr>
          <a:xfrm>
            <a:off x="457200" y="1572768"/>
            <a:ext cx="8229600" cy="868680"/>
          </a:xfrm>
          <a:prstGeom prst="rect">
            <a:avLst/>
          </a:prstGeom>
          <a:solidFill>
            <a:srgbClr val="F4F4F4"/>
          </a:solidFill>
          <a:ln w="12700">
            <a:solidFill>
              <a:srgbClr val="F4F4F4"/>
            </a:solidFill>
            <a:prstDash val="solid"/>
          </a:ln>
        </p:spPr>
      </p:sp>
      <p:sp>
        <p:nvSpPr>
          <p:cNvPr id="9" name="Text 7"/>
          <p:cNvSpPr txBox="1"/>
          <p:nvPr/>
        </p:nvSpPr>
        <p:spPr>
          <a:xfrm>
            <a:off x="548640" y="16093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原因</a:t>
            </a:r>
            <a:endParaRPr lang="en-US" sz="850" dirty="0"/>
          </a:p>
        </p:txBody>
      </p:sp>
      <p:sp>
        <p:nvSpPr>
          <p:cNvPr id="10" name="Text 8"/>
          <p:cNvSpPr txBox="1"/>
          <p:nvPr/>
        </p:nvSpPr>
        <p:spPr>
          <a:xfrm>
            <a:off x="548640" y="1810512"/>
            <a:ext cx="8046720" cy="594360"/>
          </a:xfrm>
          <a:prstGeom prst="rect">
            <a:avLst/>
          </a:prstGeom>
          <a:noFill/>
          <a:ln/>
        </p:spPr>
        <p:txBody>
          <a:bodyPr wrap="square" lIns="0" tIns="0" rIns="0" bIns="0" rtlCol="0" anchor="t"/>
          <a:lstStyle/>
          <a:p>
            <a:pPr indent="0" marL="0">
              <a:buNone/>
            </a:pPr>
            <a:r>
              <a:rPr lang="en-US" sz="850" dirty="0">
                <a:solidFill>
                  <a:srgbClr val="222222"/>
                </a:solidFill>
              </a:rPr>
              <a:t>B品連絡用に前回レンタルのお客様の伝票を商品と一緒に保管し、メンテ完了後に破棄されず外袋に同封。格納後は出荷時に検品が行われないフローのため検知できず、次のお客様へ発送された。</a:t>
            </a:r>
            <a:endParaRPr lang="en-US" sz="850" dirty="0"/>
          </a:p>
        </p:txBody>
      </p:sp>
      <p:sp>
        <p:nvSpPr>
          <p:cNvPr id="11" name="Shape 9"/>
          <p:cNvSpPr/>
          <p:nvPr/>
        </p:nvSpPr>
        <p:spPr>
          <a:xfrm>
            <a:off x="457200" y="2487168"/>
            <a:ext cx="8229600" cy="868680"/>
          </a:xfrm>
          <a:prstGeom prst="rect">
            <a:avLst/>
          </a:prstGeom>
          <a:solidFill>
            <a:srgbClr val="F4F4F4"/>
          </a:solidFill>
          <a:ln w="12700">
            <a:solidFill>
              <a:srgbClr val="F4F4F4"/>
            </a:solidFill>
            <a:prstDash val="solid"/>
          </a:ln>
        </p:spPr>
      </p:sp>
      <p:sp>
        <p:nvSpPr>
          <p:cNvPr id="12" name="Text 10"/>
          <p:cNvSpPr txBox="1"/>
          <p:nvPr/>
        </p:nvSpPr>
        <p:spPr>
          <a:xfrm>
            <a:off x="548640" y="25237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対策案（恒久対応）</a:t>
            </a:r>
            <a:endParaRPr lang="en-US" sz="850" dirty="0"/>
          </a:p>
        </p:txBody>
      </p:sp>
      <p:sp>
        <p:nvSpPr>
          <p:cNvPr id="13" name="Text 11"/>
          <p:cNvSpPr txBox="1"/>
          <p:nvPr/>
        </p:nvSpPr>
        <p:spPr>
          <a:xfrm>
            <a:off x="548640" y="2724912"/>
            <a:ext cx="8046720" cy="594360"/>
          </a:xfrm>
          <a:prstGeom prst="rect">
            <a:avLst/>
          </a:prstGeom>
          <a:noFill/>
          <a:ln/>
        </p:spPr>
        <p:txBody>
          <a:bodyPr wrap="square" lIns="0" tIns="0" rIns="0" bIns="0" rtlCol="0" anchor="t"/>
          <a:lstStyle/>
          <a:p>
            <a:pPr indent="0" marL="0">
              <a:buNone/>
            </a:pPr>
            <a:r>
              <a:rPr lang="en-US" sz="850" dirty="0">
                <a:solidFill>
                  <a:srgbClr val="222222"/>
                </a:solidFill>
              </a:rPr>
              <a:t>①返却荷受後の送り状は即時廃棄とし、当日の返却点数と送り状枚数の一致確認を行う運用へ変更 ②B品対応の情報管理をメンテナンスチェックシートのメモ欄へ一元化 ③SCM・Mall側でお客様管理シートを更新し周知（承認ash 2026/1/28）。</a:t>
            </a:r>
            <a:endParaRPr lang="en-US" sz="850" dirty="0"/>
          </a:p>
        </p:txBody>
      </p:sp>
      <p:sp>
        <p:nvSpPr>
          <p:cNvPr id="14" name="Shape 12"/>
          <p:cNvSpPr/>
          <p:nvPr/>
        </p:nvSpPr>
        <p:spPr>
          <a:xfrm>
            <a:off x="457200" y="3401568"/>
            <a:ext cx="8229600" cy="1097280"/>
          </a:xfrm>
          <a:prstGeom prst="rect">
            <a:avLst/>
          </a:prstGeom>
          <a:solidFill>
            <a:srgbClr val="F4F4F4"/>
          </a:solidFill>
          <a:ln w="12700">
            <a:solidFill>
              <a:srgbClr val="F4F4F4"/>
            </a:solidFill>
            <a:prstDash val="solid"/>
          </a:ln>
        </p:spPr>
      </p:sp>
      <p:sp>
        <p:nvSpPr>
          <p:cNvPr id="15" name="Text 13"/>
          <p:cNvSpPr txBox="1"/>
          <p:nvPr/>
        </p:nvSpPr>
        <p:spPr>
          <a:xfrm>
            <a:off x="548640" y="34381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実施確認の方法／状況</a:t>
            </a:r>
            <a:endParaRPr lang="en-US" sz="850" dirty="0"/>
          </a:p>
        </p:txBody>
      </p:sp>
      <p:sp>
        <p:nvSpPr>
          <p:cNvPr id="16" name="Text 14"/>
          <p:cNvSpPr txBox="1"/>
          <p:nvPr/>
        </p:nvSpPr>
        <p:spPr>
          <a:xfrm>
            <a:off x="548640" y="3639312"/>
            <a:ext cx="8046720" cy="822960"/>
          </a:xfrm>
          <a:prstGeom prst="rect">
            <a:avLst/>
          </a:prstGeom>
          <a:noFill/>
          <a:ln/>
        </p:spPr>
        <p:txBody>
          <a:bodyPr wrap="square" lIns="0" tIns="0" rIns="0" bIns="0" rtlCol="0" anchor="t"/>
          <a:lstStyle/>
          <a:p>
            <a:pPr indent="0" marL="0">
              <a:buNone/>
            </a:pPr>
            <a:r>
              <a:rPr lang="en-US" sz="850" dirty="0">
                <a:solidFill>
                  <a:srgbClr val="222222"/>
                </a:solidFill>
              </a:rPr>
              <a:t>・OAK物流の改訂手順書と「枚数一致確認」の記録を現物で確認</a:t>
            </a:r>
            <a:endParaRPr lang="en-US" sz="850" dirty="0"/>
          </a:p>
          <a:p>
            <a:pPr indent="0" marL="0">
              <a:buNone/>
            </a:pPr>
            <a:r>
              <a:rPr lang="en-US" sz="850" dirty="0">
                <a:solidFill>
                  <a:srgbClr val="222222"/>
                </a:solidFill>
              </a:rPr>
              <a:t>・承認日はあるが完了予定日・完了日なし。レベル3かつ個人情報案件として社長承認・役員会確認の形跡を確認</a:t>
            </a:r>
            <a:endParaRPr lang="en-US" sz="850" dirty="0"/>
          </a:p>
          <a:p>
            <a:pPr indent="0" marL="0">
              <a:buNone/>
            </a:pPr>
            <a:r>
              <a:rPr lang="en-US" sz="850" dirty="0">
                <a:solidFill>
                  <a:srgbClr val="222222"/>
                </a:solidFill>
              </a:rPr>
              <a:t>・固定設問No.14（個人情報）と合わせて評価。個人情報の流出は再発ゼロが前提</a:t>
            </a:r>
            <a:endParaRPr lang="en-US" sz="850" dirty="0"/>
          </a:p>
        </p:txBody>
      </p:sp>
      <p:sp>
        <p:nvSpPr>
          <p:cNvPr id="17" name="Text 15"/>
          <p:cNvSpPr txBox="1"/>
          <p:nvPr/>
        </p:nvSpPr>
        <p:spPr>
          <a:xfrm>
            <a:off x="457200" y="4544568"/>
            <a:ext cx="8229600" cy="228600"/>
          </a:xfrm>
          <a:prstGeom prst="rect">
            <a:avLst/>
          </a:prstGeom>
          <a:noFill/>
          <a:ln/>
        </p:spPr>
        <p:txBody>
          <a:bodyPr wrap="square" lIns="0" tIns="0" rIns="0" bIns="0" rtlCol="0" anchor="ctr"/>
          <a:lstStyle/>
          <a:p>
            <a:pPr indent="0" marL="0">
              <a:buNone/>
            </a:pPr>
            <a:r>
              <a:rPr lang="en-US" sz="800" dirty="0">
                <a:solidFill>
                  <a:srgbClr val="616161"/>
                </a:solidFill>
              </a:rPr>
              <a:t>※ 数少ない「構造的対策（伝票が工程内に残らない）」が書かれた案件。実装されているかが鍵</a:t>
            </a:r>
            <a:endParaRPr lang="en-US" sz="800" dirty="0"/>
          </a:p>
        </p:txBody>
      </p:sp>
      <p:sp>
        <p:nvSpPr>
          <p:cNvPr id="18"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indent="0" marL="0">
              <a:buNone/>
            </a:pP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CASE STUDY（レベル3）</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事例⑥：システム・設備対策に依存し、期限超過のまま2年以上</a:t>
            </a:r>
            <a:endParaRPr lang="en-US" sz="1800" dirty="0"/>
          </a:p>
        </p:txBody>
      </p:sp>
      <p:sp>
        <p:nvSpPr>
          <p:cNvPr id="4" name="Text 2"/>
          <p:cNvSpPr txBox="1"/>
          <p:nvPr/>
        </p:nvSpPr>
        <p:spPr>
          <a:xfrm>
            <a:off x="457200" y="987552"/>
            <a:ext cx="6035040" cy="228600"/>
          </a:xfrm>
          <a:prstGeom prst="rect">
            <a:avLst/>
          </a:prstGeom>
          <a:noFill/>
          <a:ln/>
        </p:spPr>
        <p:txBody>
          <a:bodyPr wrap="square" lIns="0" tIns="0" rIns="0" bIns="0" rtlCol="0" anchor="ctr"/>
          <a:lstStyle/>
          <a:p>
            <a:pPr indent="0" marL="0">
              <a:buNone/>
            </a:pPr>
            <a:r>
              <a:rPr lang="en-US" sz="900" dirty="0">
                <a:solidFill>
                  <a:srgbClr val="616161"/>
                </a:solidFill>
              </a:rPr>
              <a:t>SCMG / #55 発見日：2024/3/21 ・ #59 発見日：2024/8/6 / いずれもレベル3</a:t>
            </a:r>
            <a:endParaRPr lang="en-US" sz="900" dirty="0"/>
          </a:p>
        </p:txBody>
      </p:sp>
      <p:sp>
        <p:nvSpPr>
          <p:cNvPr id="5" name="Shape 3"/>
          <p:cNvSpPr/>
          <p:nvPr/>
        </p:nvSpPr>
        <p:spPr>
          <a:xfrm>
            <a:off x="6583680" y="960120"/>
            <a:ext cx="2103120" cy="274320"/>
          </a:xfrm>
          <a:prstGeom prst="roundRect">
            <a:avLst>
              <a:gd name="adj" fmla="val 26667"/>
            </a:avLst>
          </a:prstGeom>
          <a:solidFill>
            <a:srgbClr val="E57373"/>
          </a:solidFill>
          <a:ln w="12700">
            <a:solidFill>
              <a:srgbClr val="E57373"/>
            </a:solidFill>
            <a:prstDash val="solid"/>
          </a:ln>
        </p:spPr>
      </p:sp>
      <p:sp>
        <p:nvSpPr>
          <p:cNvPr id="6" name="Text 4"/>
          <p:cNvSpPr txBox="1"/>
          <p:nvPr/>
        </p:nvSpPr>
        <p:spPr>
          <a:xfrm>
            <a:off x="6583680" y="960120"/>
            <a:ext cx="2103120" cy="274320"/>
          </a:xfrm>
          <a:prstGeom prst="rect">
            <a:avLst/>
          </a:prstGeom>
          <a:noFill/>
          <a:ln/>
        </p:spPr>
        <p:txBody>
          <a:bodyPr wrap="square" lIns="0" tIns="0" rIns="0" bIns="0" rtlCol="0" anchor="ctr"/>
          <a:lstStyle/>
          <a:p>
            <a:pPr algn="ctr" indent="0" marL="0">
              <a:buNone/>
            </a:pPr>
            <a:r>
              <a:rPr lang="en-US" sz="850" b="1" dirty="0">
                <a:solidFill>
                  <a:srgbClr val="FFFFFF"/>
                </a:solidFill>
              </a:rPr>
              <a:t>期限超過（2年超）</a:t>
            </a:r>
            <a:endParaRPr lang="en-US" sz="850" dirty="0"/>
          </a:p>
        </p:txBody>
      </p:sp>
      <p:sp>
        <p:nvSpPr>
          <p:cNvPr id="7" name="Text 5"/>
          <p:cNvSpPr txBox="1"/>
          <p:nvPr/>
        </p:nvSpPr>
        <p:spPr>
          <a:xfrm>
            <a:off x="457200" y="1243584"/>
            <a:ext cx="8229600" cy="274320"/>
          </a:xfrm>
          <a:prstGeom prst="rect">
            <a:avLst/>
          </a:prstGeom>
          <a:noFill/>
          <a:ln/>
        </p:spPr>
        <p:txBody>
          <a:bodyPr wrap="square" lIns="0" tIns="0" rIns="0" bIns="0" rtlCol="0" anchor="ctr"/>
          <a:lstStyle/>
          <a:p>
            <a:pPr indent="0" marL="0">
              <a:buNone/>
            </a:pPr>
            <a:r>
              <a:rPr lang="en-US" sz="950" b="1" dirty="0">
                <a:solidFill>
                  <a:srgbClr val="B71C1C"/>
                </a:solidFill>
              </a:rPr>
              <a:t>影響範囲：</a:t>
            </a:r>
            <a:pPr indent="0" marL="0">
              <a:buNone/>
            </a:pPr>
            <a:r>
              <a:rPr lang="en-US" sz="950" dirty="0">
                <a:solidFill>
                  <a:srgbClr val="222222"/>
                </a:solidFill>
              </a:rPr>
              <a:t>#55 DisneyのC品（二次流通NG）が二次流通業者へ引き渡し ／ #59 停電で出荷前検品66名分が未実施</a:t>
            </a:r>
            <a:endParaRPr lang="en-US" sz="950" dirty="0"/>
          </a:p>
        </p:txBody>
      </p:sp>
      <p:sp>
        <p:nvSpPr>
          <p:cNvPr id="8" name="Shape 6"/>
          <p:cNvSpPr/>
          <p:nvPr/>
        </p:nvSpPr>
        <p:spPr>
          <a:xfrm>
            <a:off x="457200" y="1572768"/>
            <a:ext cx="8229600" cy="868680"/>
          </a:xfrm>
          <a:prstGeom prst="rect">
            <a:avLst/>
          </a:prstGeom>
          <a:solidFill>
            <a:srgbClr val="F4F4F4"/>
          </a:solidFill>
          <a:ln w="12700">
            <a:solidFill>
              <a:srgbClr val="F4F4F4"/>
            </a:solidFill>
            <a:prstDash val="solid"/>
          </a:ln>
        </p:spPr>
      </p:sp>
      <p:sp>
        <p:nvSpPr>
          <p:cNvPr id="9" name="Text 7"/>
          <p:cNvSpPr txBox="1"/>
          <p:nvPr/>
        </p:nvSpPr>
        <p:spPr>
          <a:xfrm>
            <a:off x="548640" y="16093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原因</a:t>
            </a:r>
            <a:endParaRPr lang="en-US" sz="850" dirty="0"/>
          </a:p>
        </p:txBody>
      </p:sp>
      <p:sp>
        <p:nvSpPr>
          <p:cNvPr id="10" name="Text 8"/>
          <p:cNvSpPr txBox="1"/>
          <p:nvPr/>
        </p:nvSpPr>
        <p:spPr>
          <a:xfrm>
            <a:off x="548640" y="1810512"/>
            <a:ext cx="8046720" cy="594360"/>
          </a:xfrm>
          <a:prstGeom prst="rect">
            <a:avLst/>
          </a:prstGeom>
          <a:noFill/>
          <a:ln/>
        </p:spPr>
        <p:txBody>
          <a:bodyPr wrap="square" lIns="0" tIns="0" rIns="0" bIns="0" rtlCol="0" anchor="t"/>
          <a:lstStyle/>
          <a:p>
            <a:pPr indent="0" marL="0">
              <a:buNone/>
            </a:pPr>
            <a:r>
              <a:rPr lang="en-US" sz="850" dirty="0">
                <a:solidFill>
                  <a:srgbClr val="222222"/>
                </a:solidFill>
              </a:rPr>
              <a:t>#55：OP構築前にPJチームと二次流通の可否をすり合わせず、現場には通常のC品登録を指示していた。 #59：OAK物流のキュービクル（受変電設備）の点検不足で停電。固定IP回線が使えず送り状発行が止まった。</a:t>
            </a:r>
            <a:endParaRPr lang="en-US" sz="850" dirty="0"/>
          </a:p>
        </p:txBody>
      </p:sp>
      <p:sp>
        <p:nvSpPr>
          <p:cNvPr id="11" name="Shape 9"/>
          <p:cNvSpPr/>
          <p:nvPr/>
        </p:nvSpPr>
        <p:spPr>
          <a:xfrm>
            <a:off x="457200" y="2487168"/>
            <a:ext cx="8229600" cy="868680"/>
          </a:xfrm>
          <a:prstGeom prst="rect">
            <a:avLst/>
          </a:prstGeom>
          <a:solidFill>
            <a:srgbClr val="F4F4F4"/>
          </a:solidFill>
          <a:ln w="12700">
            <a:solidFill>
              <a:srgbClr val="F4F4F4"/>
            </a:solidFill>
            <a:prstDash val="solid"/>
          </a:ln>
        </p:spPr>
      </p:sp>
      <p:sp>
        <p:nvSpPr>
          <p:cNvPr id="12" name="Text 10"/>
          <p:cNvSpPr txBox="1"/>
          <p:nvPr/>
        </p:nvSpPr>
        <p:spPr>
          <a:xfrm>
            <a:off x="548640" y="25237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対策案（恒久対応）</a:t>
            </a:r>
            <a:endParaRPr lang="en-US" sz="850" dirty="0"/>
          </a:p>
        </p:txBody>
      </p:sp>
      <p:sp>
        <p:nvSpPr>
          <p:cNvPr id="13" name="Text 11"/>
          <p:cNvSpPr txBox="1"/>
          <p:nvPr/>
        </p:nvSpPr>
        <p:spPr>
          <a:xfrm>
            <a:off x="548640" y="2724912"/>
            <a:ext cx="8046720" cy="594360"/>
          </a:xfrm>
          <a:prstGeom prst="rect">
            <a:avLst/>
          </a:prstGeom>
          <a:noFill/>
          <a:ln/>
        </p:spPr>
        <p:txBody>
          <a:bodyPr wrap="square" lIns="0" tIns="0" rIns="0" bIns="0" rtlCol="0" anchor="t"/>
          <a:lstStyle/>
          <a:p>
            <a:pPr indent="0" marL="0">
              <a:buNone/>
            </a:pPr>
            <a:r>
              <a:rPr lang="en-US" sz="850" dirty="0">
                <a:solidFill>
                  <a:srgbClr val="222222"/>
                </a:solidFill>
              </a:rPr>
              <a:t>#55：BridgeでC品登録時に二次流通NGを表示し、担当者の認知に依存しない運用にする（承認ash 2024/4/3・完了予定2024/6/30）。 #59：固定IP回線の冗長化、業務基本契約書第21条に基づくOAK物流の電源強化、出荷前検品の工数切り分け（承認ash 2024/8/21・完了予定2024/8/31）。</a:t>
            </a:r>
            <a:endParaRPr lang="en-US" sz="850" dirty="0"/>
          </a:p>
        </p:txBody>
      </p:sp>
      <p:sp>
        <p:nvSpPr>
          <p:cNvPr id="14" name="Shape 12"/>
          <p:cNvSpPr/>
          <p:nvPr/>
        </p:nvSpPr>
        <p:spPr>
          <a:xfrm>
            <a:off x="457200" y="3401568"/>
            <a:ext cx="8229600" cy="1097280"/>
          </a:xfrm>
          <a:prstGeom prst="rect">
            <a:avLst/>
          </a:prstGeom>
          <a:solidFill>
            <a:srgbClr val="F4F4F4"/>
          </a:solidFill>
          <a:ln w="12700">
            <a:solidFill>
              <a:srgbClr val="F4F4F4"/>
            </a:solidFill>
            <a:prstDash val="solid"/>
          </a:ln>
        </p:spPr>
      </p:sp>
      <p:sp>
        <p:nvSpPr>
          <p:cNvPr id="15" name="Text 13"/>
          <p:cNvSpPr txBox="1"/>
          <p:nvPr/>
        </p:nvSpPr>
        <p:spPr>
          <a:xfrm>
            <a:off x="548640" y="34381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実施確認の方法／状況</a:t>
            </a:r>
            <a:endParaRPr lang="en-US" sz="850" dirty="0"/>
          </a:p>
        </p:txBody>
      </p:sp>
      <p:sp>
        <p:nvSpPr>
          <p:cNvPr id="16" name="Text 14"/>
          <p:cNvSpPr txBox="1"/>
          <p:nvPr/>
        </p:nvSpPr>
        <p:spPr>
          <a:xfrm>
            <a:off x="548640" y="3639312"/>
            <a:ext cx="8046720" cy="822960"/>
          </a:xfrm>
          <a:prstGeom prst="rect">
            <a:avLst/>
          </a:prstGeom>
          <a:noFill/>
          <a:ln/>
        </p:spPr>
        <p:txBody>
          <a:bodyPr wrap="square" lIns="0" tIns="0" rIns="0" bIns="0" rtlCol="0" anchor="t"/>
          <a:lstStyle/>
          <a:p>
            <a:pPr indent="0" marL="0">
              <a:buNone/>
            </a:pPr>
            <a:r>
              <a:rPr lang="en-US" sz="850" dirty="0">
                <a:solidFill>
                  <a:srgbClr val="222222"/>
                </a:solidFill>
              </a:rPr>
              <a:t>・#55：Bridgeの表示を画面で確認。未実装なら現行の代替運用を確認</a:t>
            </a:r>
            <a:endParaRPr lang="en-US" sz="850" dirty="0"/>
          </a:p>
          <a:p>
            <a:pPr indent="0" marL="0">
              <a:buNone/>
            </a:pPr>
            <a:r>
              <a:rPr lang="en-US" sz="850" dirty="0">
                <a:solidFill>
                  <a:srgbClr val="222222"/>
                </a:solidFill>
              </a:rPr>
              <a:t>・#59：Wi-Fi冗長化の実物、OAK物流からの経過報告、8月末の契約改定の有無</a:t>
            </a:r>
            <a:endParaRPr lang="en-US" sz="850" dirty="0"/>
          </a:p>
          <a:p>
            <a:pPr indent="0" marL="0">
              <a:buNone/>
            </a:pPr>
            <a:r>
              <a:rPr lang="en-US" sz="850" dirty="0">
                <a:solidFill>
                  <a:srgbClr val="222222"/>
                </a:solidFill>
              </a:rPr>
              <a:t>・いずれも承認・期限は設定されているが完了日未記入＝「期限超過を誰も追っていない」状態</a:t>
            </a:r>
            <a:endParaRPr lang="en-US" sz="850" dirty="0"/>
          </a:p>
        </p:txBody>
      </p:sp>
      <p:sp>
        <p:nvSpPr>
          <p:cNvPr id="17" name="Text 15"/>
          <p:cNvSpPr txBox="1"/>
          <p:nvPr/>
        </p:nvSpPr>
        <p:spPr>
          <a:xfrm>
            <a:off x="457200" y="4544568"/>
            <a:ext cx="8229600" cy="228600"/>
          </a:xfrm>
          <a:prstGeom prst="rect">
            <a:avLst/>
          </a:prstGeom>
          <a:noFill/>
          <a:ln/>
        </p:spPr>
        <p:txBody>
          <a:bodyPr wrap="square" lIns="0" tIns="0" rIns="0" bIns="0" rtlCol="0" anchor="ctr"/>
          <a:lstStyle/>
          <a:p>
            <a:pPr indent="0" marL="0">
              <a:buNone/>
            </a:pPr>
            <a:r>
              <a:rPr lang="en-US" sz="800" dirty="0">
                <a:solidFill>
                  <a:srgbClr val="616161"/>
                </a:solidFill>
              </a:rPr>
              <a:t>※ 承認（G1）まで正しく回っている案件でも、完了確認（G4）が機能していない例</a:t>
            </a:r>
            <a:endParaRPr lang="en-US" sz="800" dirty="0"/>
          </a:p>
        </p:txBody>
      </p:sp>
      <p:sp>
        <p:nvSpPr>
          <p:cNvPr id="18"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indent="0" marL="0">
              <a:buNone/>
            </a:pP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METHODOLOGY</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監査での確認アプローチ</a:t>
            </a:r>
            <a:endParaRPr lang="en-US" sz="1800" dirty="0"/>
          </a:p>
        </p:txBody>
      </p:sp>
      <p:sp>
        <p:nvSpPr>
          <p:cNvPr id="4"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① 「恒久対応が実行されたか」を現物で確認する</a:t>
            </a:r>
            <a:endParaRPr lang="en-US" sz="1100" dirty="0"/>
          </a:p>
          <a:p>
            <a:pPr lvl="1" marL="685800" indent="-342900">
              <a:spcAft>
                <a:spcPts val="200"/>
              </a:spcAft>
              <a:buSzPct val="100000"/>
              <a:buChar char="・"/>
            </a:pPr>
            <a:r>
              <a:rPr lang="en-US" sz="1000" dirty="0">
                <a:solidFill>
                  <a:srgbClr val="222222"/>
                </a:solidFill>
              </a:rPr>
              <a:t>事例①は恒久対応の未実行そのものが再発原因。棚卸し記録・Slack通知・管理ファイルなど、既存物を1点ずつ見せてもらう</a:t>
            </a:r>
            <a:endParaRPr lang="en-US" sz="1100" dirty="0"/>
          </a:p>
          <a:p>
            <a:pPr marL="342900" indent="-342900">
              <a:spcAft>
                <a:spcPts val="400"/>
              </a:spcAft>
              <a:buSzPct val="100000"/>
              <a:buChar char="■"/>
            </a:pPr>
            <a:r>
              <a:rPr lang="en-US" sz="1100" dirty="0">
                <a:solidFill>
                  <a:srgbClr val="222222"/>
                </a:solidFill>
              </a:rPr>
              <a:t>② 委託先起因の対策が「厳重注意」で終わっていないかを確認する</a:t>
            </a:r>
            <a:endParaRPr lang="en-US" sz="1100" dirty="0"/>
          </a:p>
          <a:p>
            <a:pPr lvl="1" marL="685800" indent="-342900">
              <a:spcAft>
                <a:spcPts val="200"/>
              </a:spcAft>
              <a:buSzPct val="100000"/>
              <a:buChar char="・"/>
            </a:pPr>
            <a:r>
              <a:rPr lang="en-US" sz="1000" dirty="0">
                <a:solidFill>
                  <a:srgbClr val="222222"/>
                </a:solidFill>
              </a:rPr>
              <a:t>事例②⑤のように、OAK物流・TOPOS側の手順改訂や業務基本契約書第21条に基づく報告まで求めているか</a:t>
            </a:r>
            <a:endParaRPr lang="en-US" sz="1100" dirty="0"/>
          </a:p>
          <a:p>
            <a:pPr marL="342900" indent="-342900">
              <a:spcAft>
                <a:spcPts val="400"/>
              </a:spcAft>
              <a:buSzPct val="100000"/>
              <a:buChar char="■"/>
            </a:pPr>
            <a:r>
              <a:rPr lang="en-US" sz="1100" dirty="0">
                <a:solidFill>
                  <a:srgbClr val="222222"/>
                </a:solidFill>
              </a:rPr>
              <a:t>③ 出荷締め・同梱・契約の3領域で「気付ける仕組み」が実装され、動いているかを確認する</a:t>
            </a:r>
            <a:endParaRPr lang="en-US" sz="1100" dirty="0"/>
          </a:p>
          <a:p>
            <a:pPr lvl="1" marL="685800" indent="-342900">
              <a:spcAft>
                <a:spcPts val="200"/>
              </a:spcAft>
              <a:buSzPct val="100000"/>
              <a:buChar char="・"/>
            </a:pPr>
            <a:r>
              <a:rPr lang="en-US" sz="1000" dirty="0">
                <a:solidFill>
                  <a:srgbClr val="222222"/>
                </a:solidFill>
              </a:rPr>
              <a:t>事例②③④。アラート・通知・一元管理ファイルの稼働実績を見る</a:t>
            </a:r>
            <a:endParaRPr lang="en-US" sz="1100" dirty="0"/>
          </a:p>
          <a:p>
            <a:pPr marL="342900" indent="-342900">
              <a:spcAft>
                <a:spcPts val="400"/>
              </a:spcAft>
              <a:buSzPct val="100000"/>
              <a:buChar char="■"/>
            </a:pPr>
            <a:r>
              <a:rPr lang="en-US" sz="1100" dirty="0">
                <a:solidFill>
                  <a:srgbClr val="222222"/>
                </a:solidFill>
              </a:rPr>
              <a:t>④ レベル3で恒久対応策が空欄の6件と、期限超過案件のクローズ判断を確認する</a:t>
            </a:r>
            <a:endParaRPr lang="en-US" sz="1100" dirty="0"/>
          </a:p>
          <a:p>
            <a:pPr lvl="1" marL="685800" indent="-342900">
              <a:spcAft>
                <a:spcPts val="200"/>
              </a:spcAft>
              <a:buSzPct val="100000"/>
              <a:buChar char="・"/>
            </a:pPr>
            <a:r>
              <a:rPr lang="en-US" sz="1000" dirty="0">
                <a:solidFill>
                  <a:srgbClr val="222222"/>
                </a:solidFill>
              </a:rPr>
              <a:t>外部起因でも「対応不要」の判断と承認を残しているか。事例⑥のように期限超過を追う仕組みがあるか（G4）</a:t>
            </a:r>
            <a:endParaRPr lang="en-US" sz="1100" dirty="0"/>
          </a:p>
          <a:p>
            <a:pPr marL="342900" indent="-342900">
              <a:spcAft>
                <a:spcPts val="400"/>
              </a:spcAft>
              <a:buSzPct val="100000"/>
              <a:buChar char="■"/>
            </a:pPr>
            <a:r>
              <a:rPr lang="en-US" sz="1100" dirty="0">
                <a:solidFill>
                  <a:srgbClr val="222222"/>
                </a:solidFill>
              </a:rPr>
              <a:t>⑤ 台帳の網羅性とアカウント管理を合わせて確認する</a:t>
            </a:r>
            <a:endParaRPr lang="en-US" sz="1100" dirty="0"/>
          </a:p>
          <a:p>
            <a:pPr lvl="1" marL="685800" indent="-342900">
              <a:spcAft>
                <a:spcPts val="200"/>
              </a:spcAft>
              <a:buSzPct val="100000"/>
              <a:buChar char="・"/>
            </a:pPr>
            <a:r>
              <a:rPr lang="en-US" sz="1000" dirty="0">
                <a:solidFill>
                  <a:srgbClr val="222222"/>
                </a:solidFill>
              </a:rPr>
              <a:t>2026/6以降の起票がゼロ（No.17）。倉庫で使う共有Googleアカウント（#79・No.16）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RECOMMENDATION</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組織課題への提言</a:t>
            </a:r>
            <a:endParaRPr lang="en-US" sz="1800" dirty="0"/>
          </a:p>
        </p:txBody>
      </p:sp>
      <p:sp>
        <p:nvSpPr>
          <p:cNvPr id="4"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レベル3は「恒久対応策・承認日・完了予定日」を必須項目にする</a:t>
            </a:r>
            <a:endParaRPr lang="en-US" sz="1100" dirty="0"/>
          </a:p>
          <a:p>
            <a:pPr lvl="1" marL="685800" indent="-342900">
              <a:spcAft>
                <a:spcPts val="200"/>
              </a:spcAft>
              <a:buSzPct val="100000"/>
              <a:buChar char="・"/>
            </a:pPr>
            <a:r>
              <a:rPr lang="en-US" sz="1000" dirty="0">
                <a:solidFill>
                  <a:srgbClr val="222222"/>
                </a:solidFill>
              </a:rPr>
              <a:t>現状、対策未記載6件・承認日記入15.6%・完了日記入3.1%。GRGで提言した台帳の入力統制と同じ方向で、SCMGでは記録自体の底上げが先決</a:t>
            </a:r>
            <a:endParaRPr lang="en-US" sz="1100" dirty="0"/>
          </a:p>
          <a:p>
            <a:pPr marL="342900" indent="-342900">
              <a:spcAft>
                <a:spcPts val="400"/>
              </a:spcAft>
              <a:buSzPct val="100000"/>
              <a:buChar char="■"/>
            </a:pPr>
            <a:r>
              <a:rPr lang="en-US" sz="1100" dirty="0">
                <a:solidFill>
                  <a:srgbClr val="222222"/>
                </a:solidFill>
              </a:rPr>
              <a:t>外部・委託先起因でも「対応不要」の判断と承認を残す</a:t>
            </a:r>
            <a:endParaRPr lang="en-US" sz="1100" dirty="0"/>
          </a:p>
          <a:p>
            <a:pPr lvl="1" marL="685800" indent="-342900">
              <a:spcAft>
                <a:spcPts val="200"/>
              </a:spcAft>
              <a:buSzPct val="100000"/>
              <a:buChar char="・"/>
            </a:pPr>
            <a:r>
              <a:rPr lang="en-US" sz="1000" dirty="0">
                <a:solidFill>
                  <a:srgbClr val="222222"/>
                </a:solidFill>
              </a:rPr>
              <a:t>配送業者・委託先起因のレベル3で恒久対応が空欄。再発防止要請・補償・代替手段の検討記録を台帳に残す</a:t>
            </a:r>
            <a:endParaRPr lang="en-US" sz="1100" dirty="0"/>
          </a:p>
          <a:p>
            <a:pPr marL="342900" indent="-342900">
              <a:spcAft>
                <a:spcPts val="400"/>
              </a:spcAft>
              <a:buSzPct val="100000"/>
              <a:buChar char="■"/>
            </a:pPr>
            <a:r>
              <a:rPr lang="en-US" sz="1100" dirty="0">
                <a:solidFill>
                  <a:srgbClr val="222222"/>
                </a:solidFill>
              </a:rPr>
              <a:t>委託先起因インシデントは、委託先の手順改訂・報告を恒久対応の証憑にする</a:t>
            </a:r>
            <a:endParaRPr lang="en-US" sz="1100" dirty="0"/>
          </a:p>
          <a:p>
            <a:pPr lvl="1" marL="685800" indent="-342900">
              <a:spcAft>
                <a:spcPts val="200"/>
              </a:spcAft>
              <a:buSzPct val="100000"/>
              <a:buChar char="・"/>
            </a:pPr>
            <a:r>
              <a:rPr lang="en-US" sz="1000" dirty="0">
                <a:solidFill>
                  <a:srgbClr val="222222"/>
                </a:solidFill>
              </a:rPr>
              <a:t>「現場への厳重注意」を恒久対応としない。業務基本契約書第21条（事故処理）を運用に組み込む</a:t>
            </a:r>
            <a:endParaRPr lang="en-US" sz="1100" dirty="0"/>
          </a:p>
          <a:p>
            <a:pPr marL="342900" indent="-342900">
              <a:spcAft>
                <a:spcPts val="400"/>
              </a:spcAft>
              <a:buSzPct val="100000"/>
              <a:buChar char="■"/>
            </a:pPr>
            <a:r>
              <a:rPr lang="en-US" sz="1100" dirty="0">
                <a:solidFill>
                  <a:srgbClr val="222222"/>
                </a:solidFill>
              </a:rPr>
              <a:t>出荷締め漏れは「人の確認」から「システム検知」へ</a:t>
            </a:r>
            <a:endParaRPr lang="en-US" sz="1100" dirty="0"/>
          </a:p>
          <a:p>
            <a:pPr lvl="1" marL="685800" indent="-342900">
              <a:spcAft>
                <a:spcPts val="200"/>
              </a:spcAft>
              <a:buSzPct val="100000"/>
              <a:buChar char="・"/>
            </a:pPr>
            <a:r>
              <a:rPr lang="en-US" sz="1000" dirty="0">
                <a:solidFill>
                  <a:srgbClr val="222222"/>
                </a:solidFill>
              </a:rPr>
              <a:t>5年間で5回。締め未実施を自動検知する仕組みをPDGと検討する</a:t>
            </a:r>
            <a:endParaRPr lang="en-US" sz="1100" dirty="0"/>
          </a:p>
          <a:p>
            <a:pPr marL="342900" indent="-342900">
              <a:spcAft>
                <a:spcPts val="400"/>
              </a:spcAft>
              <a:buSzPct val="100000"/>
              <a:buChar char="■"/>
            </a:pPr>
            <a:r>
              <a:rPr lang="en-US" sz="1100" dirty="0">
                <a:solidFill>
                  <a:srgbClr val="222222"/>
                </a:solidFill>
              </a:rPr>
              <a:t>未クローズ案件を週次で確認する場をつくる</a:t>
            </a:r>
            <a:endParaRPr lang="en-US" sz="1100" dirty="0"/>
          </a:p>
          <a:p>
            <a:pPr lvl="1" marL="685800" indent="-342900">
              <a:spcAft>
                <a:spcPts val="200"/>
              </a:spcAft>
              <a:buSzPct val="100000"/>
              <a:buChar char="・"/>
            </a:pPr>
            <a:r>
              <a:rPr lang="en-US" sz="1000" dirty="0">
                <a:solidFill>
                  <a:srgbClr val="222222"/>
                </a:solidFill>
              </a:rPr>
              <a:t>GRGは週次DivリーダーMTGで未クローズ確認を実施済み。SCMGでも同様の定点確認を提案</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NEXT STEPS</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まとめ・次のアクション</a:t>
            </a:r>
            <a:endParaRPr lang="en-US" sz="1800" dirty="0"/>
          </a:p>
        </p:txBody>
      </p:sp>
      <p:sp>
        <p:nvSpPr>
          <p:cNvPr id="4"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監査実施通知（●10月）に「事前依頼リスト」（Excel）を添付し、現物の準備を依頼する</a:t>
            </a:r>
            <a:endParaRPr lang="en-US" sz="1100" dirty="0"/>
          </a:p>
          <a:p>
            <a:pPr marL="342900" indent="-342900">
              <a:spcAft>
                <a:spcPts val="400"/>
              </a:spcAft>
              <a:buSzPct val="100000"/>
              <a:buChar char="■"/>
            </a:pPr>
            <a:r>
              <a:rPr lang="en-US" sz="1100" dirty="0">
                <a:solidFill>
                  <a:srgbClr val="222222"/>
                </a:solidFill>
              </a:rPr>
              <a:t>ヒアリング（★10月）：固定設問No.1〜22 ＋ 6事例の実施状況確認（現物1点ずつ）</a:t>
            </a:r>
            <a:endParaRPr lang="en-US" sz="1100" dirty="0"/>
          </a:p>
          <a:p>
            <a:pPr lvl="1" marL="685800" indent="-342900">
              <a:spcAft>
                <a:spcPts val="200"/>
              </a:spcAft>
              <a:buSzPct val="100000"/>
              <a:buChar char="・"/>
            </a:pPr>
            <a:r>
              <a:rPr lang="en-US" sz="1000" dirty="0">
                <a:solidFill>
                  <a:srgbClr val="222222"/>
                </a:solidFill>
              </a:rPr>
              <a:t>前回監査（2025/1/27）の指摘フォロー：業務分掌規程（ソリューションチーム未記載）、流山→春日部移転後の体制・契約</a:t>
            </a:r>
            <a:endParaRPr lang="en-US" sz="1100" dirty="0"/>
          </a:p>
          <a:p>
            <a:pPr marL="342900" indent="-342900">
              <a:spcAft>
                <a:spcPts val="400"/>
              </a:spcAft>
              <a:buSzPct val="100000"/>
              <a:buChar char="■"/>
            </a:pPr>
            <a:r>
              <a:rPr lang="en-US" sz="1100" dirty="0">
                <a:solidFill>
                  <a:srgbClr val="222222"/>
                </a:solidFill>
              </a:rPr>
              <a:t>レベル3全件（19件）の記録状況を一覧で提示し、対策未記載・承認日なしの是正を依頼</a:t>
            </a:r>
            <a:endParaRPr lang="en-US" sz="1100" dirty="0"/>
          </a:p>
          <a:p>
            <a:pPr marL="342900" indent="-342900">
              <a:spcAft>
                <a:spcPts val="400"/>
              </a:spcAft>
              <a:buSzPct val="100000"/>
              <a:buChar char="■"/>
            </a:pPr>
            <a:r>
              <a:rPr lang="en-US" sz="1100" dirty="0">
                <a:solidFill>
                  <a:srgbClr val="222222"/>
                </a:solidFill>
              </a:rPr>
              <a:t>報告書 → ◆改善指示書（11月） → △改善実施計画書（12月） → ○改善状況確認書（2027年2月）</a:t>
            </a:r>
            <a:endParaRPr lang="en-US" sz="1100" dirty="0"/>
          </a:p>
          <a:p>
            <a:pPr lvl="1" marL="685800" indent="-342900">
              <a:spcAft>
                <a:spcPts val="200"/>
              </a:spcAft>
              <a:buSzPct val="100000"/>
              <a:buChar char="・"/>
            </a:pPr>
            <a:r>
              <a:rPr lang="en-US" sz="1000" dirty="0">
                <a:solidFill>
                  <a:srgbClr val="222222"/>
                </a:solidFill>
              </a:rPr>
              <a:t>G3（有効性）は是正直後に判定できないため、改善状況確認書の時点で再発有無を再確認する</a:t>
            </a:r>
            <a:endParaRPr lang="en-US" sz="1100" dirty="0"/>
          </a:p>
          <a:p>
            <a:pPr marL="342900" indent="-342900">
              <a:spcAft>
                <a:spcPts val="400"/>
              </a:spcAft>
              <a:buSzPct val="100000"/>
              <a:buChar char="■"/>
            </a:pPr>
            <a:r>
              <a:rPr lang="en-US" sz="1100" dirty="0">
                <a:solidFill>
                  <a:srgbClr val="222222"/>
                </a:solidFill>
              </a:rPr>
              <a:t>次回監査（経営管理室・11月）以降も同じ構成で実施し、部門横断の課題（事後稟議・台帳記録）は全社提言にまとめる</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0" y="2103120"/>
            <a:ext cx="9144000" cy="822960"/>
          </a:xfrm>
          <a:prstGeom prst="rect">
            <a:avLst/>
          </a:prstGeom>
          <a:noFill/>
          <a:ln/>
        </p:spPr>
        <p:txBody>
          <a:bodyPr wrap="square" lIns="0" tIns="0" rIns="0" bIns="0" rtlCol="0" anchor="ctr"/>
          <a:lstStyle/>
          <a:p>
            <a:pPr algn="ctr" indent="0" marL="0">
              <a:buNone/>
            </a:pPr>
            <a:r>
              <a:rPr lang="en-US" sz="2000" b="1" dirty="0">
                <a:solidFill>
                  <a:srgbClr val="FFFFFF"/>
                </a:solidFill>
              </a:rPr>
              <a:t>Special Thanks</a:t>
            </a:r>
            <a:endParaRPr lang="en-US" sz="2000" dirty="0"/>
          </a:p>
        </p:txBody>
      </p:sp>
      <p:sp>
        <p:nvSpPr>
          <p:cNvPr id="3" name="Text 1"/>
          <p:cNvSpPr/>
          <p:nvPr>
            <p:ph idx="102" type="body" hasCustomPrompt="1"/>
          </p:nvPr>
        </p:nvSpPr>
        <p:spPr>
          <a:xfrm>
            <a:off x="914400" y="3108960"/>
            <a:ext cx="7315200" cy="457200"/>
          </a:xfrm>
          <a:prstGeom prst="rect">
            <a:avLst/>
          </a:prstGeom>
          <a:noFill/>
          <a:ln/>
        </p:spPr>
        <p:txBody>
          <a:bodyPr wrap="square" lIns="0" tIns="0" rIns="0" bIns="0" rtlCol="0"/>
          <a:lstStyle/>
          <a:p>
            <a:pPr algn="ctr" indent="0" marL="0">
              <a:buNone/>
            </a:pPr>
            <a:r>
              <a:rPr lang="en-US" sz="1000" dirty="0">
                <a:solidFill>
                  <a:srgbClr val="616161"/>
                </a:solidFill>
              </a:rPr>
              <a:t>ご協力いただくSCMGの皆さま、よろしくお願いいたします</a:t>
            </a:r>
            <a:endParaRPr lang="en-US" sz="1000" dirty="0"/>
          </a:p>
        </p:txBody>
      </p:sp>
    </p:spTree>
  </p:cSld>
  <p:clrMapOvr>
    <a:masterClrMapping/>
  </p:clrMapOvr>
</p:sld>
</file>

<file path=ppt/theme/theme1.xml><?xml version="1.0" encoding="utf-8"?>
<a:theme xmlns:a="http://schemas.openxmlformats.org/drawingml/2006/main" name="aC Audit">
  <a:themeElements>
    <a:clrScheme name="aC Audit">
      <a:dk1>
        <a:srgbClr val="222222"/>
      </a:dk1>
      <a:lt1>
        <a:srgbClr val="FFFFFF"/>
      </a:lt1>
      <a:dk2>
        <a:srgbClr val="B71C1C"/>
      </a:dk2>
      <a:lt2>
        <a:srgbClr val="F4F4F4"/>
      </a:lt2>
      <a:accent1>
        <a:srgbClr val="B71C1C"/>
      </a:accent1>
      <a:accent2>
        <a:srgbClr val="E57373"/>
      </a:accent2>
      <a:accent3>
        <a:srgbClr val="616161"/>
      </a:accent3>
      <a:accent4>
        <a:srgbClr val="FBC02D"/>
      </a:accent4>
      <a:accent5>
        <a:srgbClr val="388E3C"/>
      </a:accent5>
      <a:accent6>
        <a:srgbClr val="9E9E9E"/>
      </a:accent6>
      <a:hlink>
        <a:srgbClr val="B71C1C"/>
      </a:hlink>
      <a:folHlink>
        <a:srgbClr val="616161"/>
      </a:folHlink>
    </a:clrScheme>
    <a:fontScheme name="aC Audit">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内部監査：SCMG レベル3インシデントの恒久対応チェック（2024-2026年）</dc:title>
  <dc:subject>PptxGenJS Presentation</dc:subject>
  <dc:creator>内部監査担当</dc:creator>
  <cp:lastModifiedBy>内部監査担当</cp:lastModifiedBy>
  <cp:revision>1</cp:revision>
  <dcterms:created xsi:type="dcterms:W3CDTF">2026-10-13T07:48:51Z</dcterms:created>
  <dcterms:modified xsi:type="dcterms:W3CDTF">2026-10-13T07:48:51Z</dcterms:modified>
</cp:coreProperties>
</file>